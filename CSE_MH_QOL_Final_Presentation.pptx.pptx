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League Spartan" charset="1" panose="00000800000000000000"/>
      <p:regular r:id="rId47"/>
    </p:embeddedFont>
    <p:embeddedFont>
      <p:font typeface="Poppins" charset="1" panose="00000500000000000000"/>
      <p:regular r:id="rId48"/>
    </p:embeddedFont>
    <p:embeddedFont>
      <p:font typeface="Poppins Bold" charset="1" panose="00000800000000000000"/>
      <p:regular r:id="rId49"/>
    </p:embeddedFont>
    <p:embeddedFont>
      <p:font typeface="Archivo Black" charset="1" panose="020B0A03020202020B04"/>
      <p:regular r:id="rId50"/>
    </p:embeddedFont>
    <p:embeddedFont>
      <p:font typeface="Roboto Bold" charset="1" panose="02000000000000000000"/>
      <p:regular r:id="rId51"/>
    </p:embeddedFont>
    <p:embeddedFont>
      <p:font typeface="Courier New" charset="1" panose="02070309020205020404"/>
      <p:regular r:id="rId52"/>
    </p:embeddedFont>
    <p:embeddedFont>
      <p:font typeface="Courier New Bold" charset="1" panose="020706090202050204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5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5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jpeg" Type="http://schemas.openxmlformats.org/officeDocument/2006/relationships/image"/><Relationship Id="rId6" Target="../media/image32.jpeg" Type="http://schemas.openxmlformats.org/officeDocument/2006/relationships/image"/><Relationship Id="rId7" Target="../media/image33.jpe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jpeg" Type="http://schemas.openxmlformats.org/officeDocument/2006/relationships/image"/><Relationship Id="rId11" Target="../media/image41.jpeg" Type="http://schemas.openxmlformats.org/officeDocument/2006/relationships/image"/><Relationship Id="rId12" Target="../media/image42.jpeg" Type="http://schemas.openxmlformats.org/officeDocument/2006/relationships/image"/><Relationship Id="rId2" Target="../media/image34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5.jpeg" Type="http://schemas.openxmlformats.org/officeDocument/2006/relationships/image"/><Relationship Id="rId6" Target="../media/image36.jpeg" Type="http://schemas.openxmlformats.org/officeDocument/2006/relationships/image"/><Relationship Id="rId7" Target="../media/image37.jpeg" Type="http://schemas.openxmlformats.org/officeDocument/2006/relationships/image"/><Relationship Id="rId8" Target="../media/image38.jpe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6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43.jpeg" Type="http://schemas.openxmlformats.org/officeDocument/2006/relationships/image"/><Relationship Id="rId6" Target="../media/image44.jpeg" Type="http://schemas.openxmlformats.org/officeDocument/2006/relationships/image"/><Relationship Id="rId7" Target="../media/image45.jpeg" Type="http://schemas.openxmlformats.org/officeDocument/2006/relationships/image"/><Relationship Id="rId8" Target="../media/image46.jpeg" Type="http://schemas.openxmlformats.org/officeDocument/2006/relationships/image"/><Relationship Id="rId9" Target="../media/image4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30303" y="3876923"/>
            <a:ext cx="3086100" cy="2352323"/>
          </a:xfrm>
          <a:custGeom>
            <a:avLst/>
            <a:gdLst/>
            <a:ahLst/>
            <a:cxnLst/>
            <a:rect r="r" b="b" t="t" l="l"/>
            <a:pathLst>
              <a:path h="2352323" w="3086100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67344" y="3876923"/>
            <a:ext cx="3086100" cy="2352323"/>
          </a:xfrm>
          <a:custGeom>
            <a:avLst/>
            <a:gdLst/>
            <a:ahLst/>
            <a:cxnLst/>
            <a:rect r="r" b="b" t="t" l="l"/>
            <a:pathLst>
              <a:path h="2352323" w="3086100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20358" y="652910"/>
            <a:ext cx="2047294" cy="2038198"/>
            <a:chOff x="0" y="0"/>
            <a:chExt cx="2729725" cy="27175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29738" cy="2717546"/>
            </a:xfrm>
            <a:custGeom>
              <a:avLst/>
              <a:gdLst/>
              <a:ahLst/>
              <a:cxnLst/>
              <a:rect r="r" b="b" t="t" l="l"/>
              <a:pathLst>
                <a:path h="2717546" w="2729738">
                  <a:moveTo>
                    <a:pt x="0" y="0"/>
                  </a:moveTo>
                  <a:lnTo>
                    <a:pt x="2729738" y="0"/>
                  </a:lnTo>
                  <a:lnTo>
                    <a:pt x="2729738" y="2717546"/>
                  </a:lnTo>
                  <a:lnTo>
                    <a:pt x="0" y="271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21350" y="7273681"/>
            <a:ext cx="2491988" cy="2433085"/>
            <a:chOff x="0" y="0"/>
            <a:chExt cx="3322650" cy="32441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22701" cy="3244088"/>
            </a:xfrm>
            <a:custGeom>
              <a:avLst/>
              <a:gdLst/>
              <a:ahLst/>
              <a:cxnLst/>
              <a:rect r="r" b="b" t="t" l="l"/>
              <a:pathLst>
                <a:path h="3244088" w="3322701">
                  <a:moveTo>
                    <a:pt x="0" y="0"/>
                  </a:moveTo>
                  <a:lnTo>
                    <a:pt x="3322701" y="0"/>
                  </a:lnTo>
                  <a:lnTo>
                    <a:pt x="3322701" y="3244088"/>
                  </a:lnTo>
                  <a:lnTo>
                    <a:pt x="0" y="3244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" r="1" b="-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859712" y="3924395"/>
            <a:ext cx="8568585" cy="19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9"/>
              </a:lnSpc>
            </a:pPr>
            <a:r>
              <a:rPr lang="en-US" sz="3591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VISION-ASSISTED CARTESIAN ROBOTIC SYSTEM FOR 3D BLOCK CONSTRUCTION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0166" y="6363195"/>
            <a:ext cx="4967678" cy="252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463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Ahmed Gharib</a:t>
            </a:r>
          </a:p>
          <a:p>
            <a:pPr algn="ctr">
              <a:lnSpc>
                <a:spcPts val="6249"/>
              </a:lnSpc>
            </a:pPr>
            <a:r>
              <a:rPr lang="en-US" sz="4463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Mohie Halawa</a:t>
            </a:r>
          </a:p>
          <a:p>
            <a:pPr algn="ctr">
              <a:lnSpc>
                <a:spcPts val="6249"/>
              </a:lnSpc>
            </a:pPr>
            <a:r>
              <a:rPr lang="en-US" sz="4463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Khalil Qanabita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56591" y="2008622"/>
            <a:ext cx="3828936" cy="3266923"/>
          </a:xfrm>
          <a:custGeom>
            <a:avLst/>
            <a:gdLst/>
            <a:ahLst/>
            <a:cxnLst/>
            <a:rect r="r" b="b" t="t" l="l"/>
            <a:pathLst>
              <a:path h="3266923" w="3828936">
                <a:moveTo>
                  <a:pt x="0" y="0"/>
                </a:moveTo>
                <a:lnTo>
                  <a:pt x="3828936" y="0"/>
                </a:lnTo>
                <a:lnTo>
                  <a:pt x="3828936" y="3266923"/>
                </a:lnTo>
                <a:lnTo>
                  <a:pt x="0" y="326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87916" y="819150"/>
            <a:ext cx="8512169" cy="107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7068" y="2522915"/>
            <a:ext cx="2747982" cy="282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  <a:r>
              <a:rPr lang="en-US" sz="30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Motivation &amp; Objectives </a:t>
            </a:r>
          </a:p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56591" y="5991377"/>
            <a:ext cx="3828936" cy="3266923"/>
          </a:xfrm>
          <a:custGeom>
            <a:avLst/>
            <a:gdLst/>
            <a:ahLst/>
            <a:cxnLst/>
            <a:rect r="r" b="b" t="t" l="l"/>
            <a:pathLst>
              <a:path h="3266923" w="3828936">
                <a:moveTo>
                  <a:pt x="0" y="0"/>
                </a:moveTo>
                <a:lnTo>
                  <a:pt x="3828936" y="0"/>
                </a:lnTo>
                <a:lnTo>
                  <a:pt x="3828936" y="3266923"/>
                </a:lnTo>
                <a:lnTo>
                  <a:pt x="0" y="326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12495" y="2008622"/>
            <a:ext cx="3828936" cy="3266923"/>
          </a:xfrm>
          <a:custGeom>
            <a:avLst/>
            <a:gdLst/>
            <a:ahLst/>
            <a:cxnLst/>
            <a:rect r="r" b="b" t="t" l="l"/>
            <a:pathLst>
              <a:path h="3266923" w="3828936">
                <a:moveTo>
                  <a:pt x="0" y="0"/>
                </a:moveTo>
                <a:lnTo>
                  <a:pt x="3828936" y="0"/>
                </a:lnTo>
                <a:lnTo>
                  <a:pt x="3828936" y="3266923"/>
                </a:lnTo>
                <a:lnTo>
                  <a:pt x="0" y="326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6004" y="6790830"/>
            <a:ext cx="3409426" cy="171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  <a:r>
              <a:rPr lang="en-US" sz="30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&amp; Control System</a:t>
            </a:r>
          </a:p>
          <a:p>
            <a:pPr algn="ctr">
              <a:lnSpc>
                <a:spcPts val="430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68389" y="2008622"/>
            <a:ext cx="3828936" cy="3266923"/>
          </a:xfrm>
          <a:custGeom>
            <a:avLst/>
            <a:gdLst/>
            <a:ahLst/>
            <a:cxnLst/>
            <a:rect r="r" b="b" t="t" l="l"/>
            <a:pathLst>
              <a:path h="3266923" w="3828936">
                <a:moveTo>
                  <a:pt x="0" y="0"/>
                </a:moveTo>
                <a:lnTo>
                  <a:pt x="3828936" y="0"/>
                </a:lnTo>
                <a:lnTo>
                  <a:pt x="3828936" y="3266923"/>
                </a:lnTo>
                <a:lnTo>
                  <a:pt x="0" y="326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80027" y="5991377"/>
            <a:ext cx="3828936" cy="3266923"/>
          </a:xfrm>
          <a:custGeom>
            <a:avLst/>
            <a:gdLst/>
            <a:ahLst/>
            <a:cxnLst/>
            <a:rect r="r" b="b" t="t" l="l"/>
            <a:pathLst>
              <a:path h="3266923" w="3828936">
                <a:moveTo>
                  <a:pt x="0" y="0"/>
                </a:moveTo>
                <a:lnTo>
                  <a:pt x="3828936" y="0"/>
                </a:lnTo>
                <a:lnTo>
                  <a:pt x="3828936" y="3266923"/>
                </a:lnTo>
                <a:lnTo>
                  <a:pt x="0" y="326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20504" y="6476876"/>
            <a:ext cx="2747982" cy="282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  <a:r>
              <a:rPr lang="en-US" sz="30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&amp; Results</a:t>
            </a:r>
          </a:p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868389" y="5991377"/>
            <a:ext cx="3828936" cy="3266923"/>
          </a:xfrm>
          <a:custGeom>
            <a:avLst/>
            <a:gdLst/>
            <a:ahLst/>
            <a:cxnLst/>
            <a:rect r="r" b="b" t="t" l="l"/>
            <a:pathLst>
              <a:path h="3266923" w="3828936">
                <a:moveTo>
                  <a:pt x="0" y="0"/>
                </a:moveTo>
                <a:lnTo>
                  <a:pt x="3828936" y="0"/>
                </a:lnTo>
                <a:lnTo>
                  <a:pt x="3828936" y="3266923"/>
                </a:lnTo>
                <a:lnTo>
                  <a:pt x="0" y="326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99653" y="7124033"/>
            <a:ext cx="3693871" cy="217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3"/>
              </a:lnSpc>
            </a:pPr>
            <a:r>
              <a:rPr lang="en-US" sz="297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Future Work </a:t>
            </a:r>
          </a:p>
          <a:p>
            <a:pPr algn="ctr">
              <a:lnSpc>
                <a:spcPts val="4163"/>
              </a:lnSpc>
            </a:pPr>
          </a:p>
          <a:p>
            <a:pPr algn="ctr">
              <a:lnSpc>
                <a:spcPts val="416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205812" y="2495188"/>
            <a:ext cx="3289163" cy="228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  <a:r>
              <a:rPr lang="en-US" sz="30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Bill of Materials</a:t>
            </a:r>
          </a:p>
          <a:p>
            <a:pPr algn="ctr">
              <a:lnSpc>
                <a:spcPts val="430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582376" y="2766651"/>
            <a:ext cx="3289163" cy="174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2"/>
              </a:lnSpc>
            </a:pPr>
          </a:p>
          <a:p>
            <a:pPr algn="ctr">
              <a:lnSpc>
                <a:spcPts val="4302"/>
              </a:lnSpc>
            </a:pPr>
            <a:r>
              <a:rPr lang="en-US" sz="30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Design</a:t>
            </a:r>
          </a:p>
          <a:p>
            <a:pPr algn="ctr">
              <a:lnSpc>
                <a:spcPts val="430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19150"/>
            <a:ext cx="10850461" cy="10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0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BACKGROUND &amp; MOTIVATION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3877" y="2813733"/>
            <a:ext cx="16600237" cy="450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7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This Project?</a:t>
            </a:r>
          </a:p>
          <a:p>
            <a:pPr algn="l">
              <a:lnSpc>
                <a:spcPts val="3890"/>
              </a:lnSpc>
            </a:pPr>
            <a:r>
              <a:rPr lang="en-US" sz="27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Industrial pick-and-place systems must do more than move parts.</a:t>
            </a:r>
          </a:p>
          <a:p>
            <a:pPr algn="l">
              <a:lnSpc>
                <a:spcPts val="3890"/>
              </a:lnSpc>
            </a:pPr>
          </a:p>
          <a:p>
            <a:pPr algn="l">
              <a:lnSpc>
                <a:spcPts val="3890"/>
              </a:lnSpc>
            </a:pPr>
            <a:r>
              <a:rPr lang="en-US" sz="27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Real assembly cells must verify feeding, gripping, placement, and failures.</a:t>
            </a:r>
          </a:p>
          <a:p>
            <a:pPr algn="l">
              <a:lnSpc>
                <a:spcPts val="3890"/>
              </a:lnSpc>
            </a:pPr>
          </a:p>
          <a:p>
            <a:pPr algn="l">
              <a:lnSpc>
                <a:spcPts val="3890"/>
              </a:lnSpc>
            </a:pPr>
            <a:r>
              <a:rPr lang="en-US" sz="27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Timing-based systems assume success instead of confirming it.</a:t>
            </a:r>
          </a:p>
          <a:p>
            <a:pPr algn="l">
              <a:lnSpc>
                <a:spcPts val="3890"/>
              </a:lnSpc>
            </a:pPr>
          </a:p>
          <a:p>
            <a:pPr algn="l">
              <a:lnSpc>
                <a:spcPts val="3890"/>
              </a:lnSpc>
            </a:pPr>
            <a:r>
              <a:rPr lang="en-US" sz="277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The goal is a machine that verifies every stage rather than relying on assumptions.</a:t>
            </a:r>
          </a:p>
          <a:p>
            <a:pPr algn="l">
              <a:lnSpc>
                <a:spcPts val="431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341262" y="8285112"/>
            <a:ext cx="1725054" cy="1684277"/>
            <a:chOff x="0" y="0"/>
            <a:chExt cx="2300072" cy="22457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0097" cy="2245741"/>
            </a:xfrm>
            <a:custGeom>
              <a:avLst/>
              <a:gdLst/>
              <a:ahLst/>
              <a:cxnLst/>
              <a:rect r="r" b="b" t="t" l="l"/>
              <a:pathLst>
                <a:path h="2245741" w="2300097">
                  <a:moveTo>
                    <a:pt x="0" y="0"/>
                  </a:moveTo>
                  <a:lnTo>
                    <a:pt x="2300097" y="0"/>
                  </a:lnTo>
                  <a:lnTo>
                    <a:pt x="2300097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1" b="-2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AN OPEN-LOOP MACHINE CANNOT SEE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2777490"/>
            <a:ext cx="146304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Stacking is sequential: block 7 has to be right or block 18 falls off it. A timing-based machine cannot tell success from failure, so it never stops — it turns one silent failure into a pile.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4128" y="3977640"/>
            <a:ext cx="786384" cy="786384"/>
            <a:chOff x="0" y="0"/>
            <a:chExt cx="1048512" cy="1048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524256"/>
                  </a:moveTo>
                  <a:cubicBezTo>
                    <a:pt x="0" y="234696"/>
                    <a:pt x="234696" y="0"/>
                    <a:pt x="524256" y="0"/>
                  </a:cubicBezTo>
                  <a:cubicBezTo>
                    <a:pt x="813816" y="0"/>
                    <a:pt x="1048512" y="234696"/>
                    <a:pt x="1048512" y="524256"/>
                  </a:cubicBezTo>
                  <a:cubicBezTo>
                    <a:pt x="1048512" y="813816"/>
                    <a:pt x="813816" y="1048512"/>
                    <a:pt x="524256" y="1048512"/>
                  </a:cubicBezTo>
                  <a:cubicBezTo>
                    <a:pt x="234696" y="1048512"/>
                    <a:pt x="0" y="813816"/>
                    <a:pt x="0" y="5242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4128" y="4162044"/>
            <a:ext cx="786384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1408" y="3986403"/>
            <a:ext cx="14538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Empty or jammed hopper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1408" y="4396740"/>
            <a:ext cx="145389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gate opens, no block comes out, the belt runs anyway. The claw closes on nothing.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4128" y="5111496"/>
            <a:ext cx="786384" cy="786384"/>
            <a:chOff x="0" y="0"/>
            <a:chExt cx="1048512" cy="10485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524256"/>
                  </a:moveTo>
                  <a:cubicBezTo>
                    <a:pt x="0" y="234696"/>
                    <a:pt x="234696" y="0"/>
                    <a:pt x="524256" y="0"/>
                  </a:cubicBezTo>
                  <a:cubicBezTo>
                    <a:pt x="813816" y="0"/>
                    <a:pt x="1048512" y="234696"/>
                    <a:pt x="1048512" y="524256"/>
                  </a:cubicBezTo>
                  <a:cubicBezTo>
                    <a:pt x="1048512" y="813816"/>
                    <a:pt x="813816" y="1048512"/>
                    <a:pt x="524256" y="1048512"/>
                  </a:cubicBezTo>
                  <a:cubicBezTo>
                    <a:pt x="234696" y="1048512"/>
                    <a:pt x="0" y="813816"/>
                    <a:pt x="0" y="5242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4128" y="5295900"/>
            <a:ext cx="786384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1408" y="5120259"/>
            <a:ext cx="14538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Two blocks instead of 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21408" y="5530596"/>
            <a:ext cx="145389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gate open far enough for one block is open far enough for two. The second arrives out of sequence.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4128" y="6245352"/>
            <a:ext cx="786384" cy="786384"/>
            <a:chOff x="0" y="0"/>
            <a:chExt cx="1048512" cy="10485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524256"/>
                  </a:moveTo>
                  <a:cubicBezTo>
                    <a:pt x="0" y="234696"/>
                    <a:pt x="234696" y="0"/>
                    <a:pt x="524256" y="0"/>
                  </a:cubicBezTo>
                  <a:cubicBezTo>
                    <a:pt x="813816" y="0"/>
                    <a:pt x="1048512" y="234696"/>
                    <a:pt x="1048512" y="524256"/>
                  </a:cubicBezTo>
                  <a:cubicBezTo>
                    <a:pt x="1048512" y="813816"/>
                    <a:pt x="813816" y="1048512"/>
                    <a:pt x="524256" y="1048512"/>
                  </a:cubicBezTo>
                  <a:cubicBezTo>
                    <a:pt x="234696" y="1048512"/>
                    <a:pt x="0" y="813816"/>
                    <a:pt x="0" y="5242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24128" y="6429756"/>
            <a:ext cx="786384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21408" y="6254115"/>
            <a:ext cx="14538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A block that is late or crooked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1408" y="6664452"/>
            <a:ext cx="145389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belt is not a positioning system. The block is picked by its corner, or missed entirely.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4128" y="7379208"/>
            <a:ext cx="786384" cy="786384"/>
            <a:chOff x="0" y="0"/>
            <a:chExt cx="1048512" cy="10485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524256"/>
                  </a:moveTo>
                  <a:cubicBezTo>
                    <a:pt x="0" y="234696"/>
                    <a:pt x="234696" y="0"/>
                    <a:pt x="524256" y="0"/>
                  </a:cubicBezTo>
                  <a:cubicBezTo>
                    <a:pt x="813816" y="0"/>
                    <a:pt x="1048512" y="234696"/>
                    <a:pt x="1048512" y="524256"/>
                  </a:cubicBezTo>
                  <a:cubicBezTo>
                    <a:pt x="1048512" y="813816"/>
                    <a:pt x="813816" y="1048512"/>
                    <a:pt x="524256" y="1048512"/>
                  </a:cubicBezTo>
                  <a:cubicBezTo>
                    <a:pt x="234696" y="1048512"/>
                    <a:pt x="0" y="813816"/>
                    <a:pt x="0" y="5242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24128" y="7563612"/>
            <a:ext cx="786384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1408" y="7387971"/>
            <a:ext cx="14538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Lost steps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21408" y="7798308"/>
            <a:ext cx="145389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Open-loop steppers lose steps against a stall, and nothing in the motor reports it.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4128" y="8513064"/>
            <a:ext cx="786384" cy="786384"/>
            <a:chOff x="0" y="0"/>
            <a:chExt cx="1048512" cy="10485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8512" cy="1048512"/>
            </a:xfrm>
            <a:custGeom>
              <a:avLst/>
              <a:gdLst/>
              <a:ahLst/>
              <a:cxnLst/>
              <a:rect r="r" b="b" t="t" l="l"/>
              <a:pathLst>
                <a:path h="1048512" w="1048512">
                  <a:moveTo>
                    <a:pt x="0" y="524256"/>
                  </a:moveTo>
                  <a:cubicBezTo>
                    <a:pt x="0" y="234696"/>
                    <a:pt x="234696" y="0"/>
                    <a:pt x="524256" y="0"/>
                  </a:cubicBezTo>
                  <a:cubicBezTo>
                    <a:pt x="813816" y="0"/>
                    <a:pt x="1048512" y="234696"/>
                    <a:pt x="1048512" y="524256"/>
                  </a:cubicBezTo>
                  <a:cubicBezTo>
                    <a:pt x="1048512" y="813816"/>
                    <a:pt x="813816" y="1048512"/>
                    <a:pt x="524256" y="1048512"/>
                  </a:cubicBezTo>
                  <a:cubicBezTo>
                    <a:pt x="234696" y="1048512"/>
                    <a:pt x="0" y="813816"/>
                    <a:pt x="0" y="52425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24128" y="8697468"/>
            <a:ext cx="786384" cy="76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21408" y="8521827"/>
            <a:ext cx="14538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A hand in the workspace, or a controller reset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21408" y="8932164"/>
            <a:ext cx="145389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person moves a block, or a USB open reboots the board un-homed. The machine's model is silently wrong.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243878"/>
            <a:ext cx="5403647" cy="10617756"/>
          </a:xfrm>
          <a:custGeom>
            <a:avLst/>
            <a:gdLst/>
            <a:ahLst/>
            <a:cxnLst/>
            <a:rect r="r" b="b" t="t" l="l"/>
            <a:pathLst>
              <a:path h="10617756" w="5403647">
                <a:moveTo>
                  <a:pt x="0" y="0"/>
                </a:moveTo>
                <a:lnTo>
                  <a:pt x="5403647" y="0"/>
                </a:lnTo>
                <a:lnTo>
                  <a:pt x="5403647" y="10617756"/>
                </a:lnTo>
                <a:lnTo>
                  <a:pt x="0" y="1061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84500" y="1416348"/>
            <a:ext cx="1253109" cy="1253109"/>
          </a:xfrm>
          <a:custGeom>
            <a:avLst/>
            <a:gdLst/>
            <a:ahLst/>
            <a:cxnLst/>
            <a:rect r="r" b="b" t="t" l="l"/>
            <a:pathLst>
              <a:path h="1253109" w="1253109">
                <a:moveTo>
                  <a:pt x="0" y="0"/>
                </a:moveTo>
                <a:lnTo>
                  <a:pt x="1253109" y="0"/>
                </a:lnTo>
                <a:lnTo>
                  <a:pt x="1253109" y="1253109"/>
                </a:lnTo>
                <a:lnTo>
                  <a:pt x="0" y="1253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87033" y="2378392"/>
            <a:ext cx="1601934" cy="6647488"/>
          </a:xfrm>
          <a:custGeom>
            <a:avLst/>
            <a:gdLst/>
            <a:ahLst/>
            <a:cxnLst/>
            <a:rect r="r" b="b" t="t" l="l"/>
            <a:pathLst>
              <a:path h="6647488" w="1601934">
                <a:moveTo>
                  <a:pt x="0" y="0"/>
                </a:moveTo>
                <a:lnTo>
                  <a:pt x="1601934" y="0"/>
                </a:lnTo>
                <a:lnTo>
                  <a:pt x="1601934" y="6647488"/>
                </a:lnTo>
                <a:lnTo>
                  <a:pt x="0" y="66474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01314" y="1460344"/>
            <a:ext cx="1019470" cy="92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4609" y="1326194"/>
            <a:ext cx="9674981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a complete self-feeding robotic cell capable of autonomous 3D block construction.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757" y="467858"/>
            <a:ext cx="4977317" cy="82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0"/>
              </a:lnSpc>
            </a:pPr>
            <a:r>
              <a:rPr lang="en-US" sz="43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41262" y="8285112"/>
            <a:ext cx="1725054" cy="1684277"/>
            <a:chOff x="0" y="0"/>
            <a:chExt cx="2300072" cy="22457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0097" cy="2245741"/>
            </a:xfrm>
            <a:custGeom>
              <a:avLst/>
              <a:gdLst/>
              <a:ahLst/>
              <a:cxnLst/>
              <a:rect r="r" b="b" t="t" l="l"/>
              <a:pathLst>
                <a:path h="2245741" w="2300097">
                  <a:moveTo>
                    <a:pt x="0" y="0"/>
                  </a:moveTo>
                  <a:lnTo>
                    <a:pt x="2300097" y="0"/>
                  </a:lnTo>
                  <a:lnTo>
                    <a:pt x="2300097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9" r="1" b="-28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684500" y="3063564"/>
            <a:ext cx="1253109" cy="1253109"/>
          </a:xfrm>
          <a:custGeom>
            <a:avLst/>
            <a:gdLst/>
            <a:ahLst/>
            <a:cxnLst/>
            <a:rect r="r" b="b" t="t" l="l"/>
            <a:pathLst>
              <a:path h="1253109" w="1253109">
                <a:moveTo>
                  <a:pt x="0" y="0"/>
                </a:moveTo>
                <a:lnTo>
                  <a:pt x="1253109" y="0"/>
                </a:lnTo>
                <a:lnTo>
                  <a:pt x="1253109" y="1253109"/>
                </a:lnTo>
                <a:lnTo>
                  <a:pt x="0" y="1253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01314" y="3107560"/>
            <a:ext cx="1019470" cy="92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4609" y="2973410"/>
            <a:ext cx="9674981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Place blocks at any addressable grid cell and stack level within the machine workspace.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684500" y="4710770"/>
            <a:ext cx="1253109" cy="1253109"/>
          </a:xfrm>
          <a:custGeom>
            <a:avLst/>
            <a:gdLst/>
            <a:ahLst/>
            <a:cxnLst/>
            <a:rect r="r" b="b" t="t" l="l"/>
            <a:pathLst>
              <a:path h="1253109" w="1253109">
                <a:moveTo>
                  <a:pt x="0" y="0"/>
                </a:moveTo>
                <a:lnTo>
                  <a:pt x="1253109" y="0"/>
                </a:lnTo>
                <a:lnTo>
                  <a:pt x="1253109" y="1253109"/>
                </a:lnTo>
                <a:lnTo>
                  <a:pt x="0" y="1253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801314" y="4754766"/>
            <a:ext cx="1019470" cy="92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94609" y="4620616"/>
            <a:ext cx="11164691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 both vertical and horizontal block orientations through a rotating end-effector and dual-grid system.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684500" y="6357985"/>
            <a:ext cx="1253109" cy="1253109"/>
          </a:xfrm>
          <a:custGeom>
            <a:avLst/>
            <a:gdLst/>
            <a:ahLst/>
            <a:cxnLst/>
            <a:rect r="r" b="b" t="t" l="l"/>
            <a:pathLst>
              <a:path h="1253109" w="1253109">
                <a:moveTo>
                  <a:pt x="0" y="0"/>
                </a:moveTo>
                <a:lnTo>
                  <a:pt x="1253109" y="0"/>
                </a:lnTo>
                <a:lnTo>
                  <a:pt x="1253109" y="1253109"/>
                </a:lnTo>
                <a:lnTo>
                  <a:pt x="0" y="1253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801314" y="6401981"/>
            <a:ext cx="1019470" cy="92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94609" y="6267831"/>
            <a:ext cx="11164691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Detect, localize, and verify blocks using an overhead vision system with calibrated grid mapping. 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684500" y="8005191"/>
            <a:ext cx="1253109" cy="1253109"/>
          </a:xfrm>
          <a:custGeom>
            <a:avLst/>
            <a:gdLst/>
            <a:ahLst/>
            <a:cxnLst/>
            <a:rect r="r" b="b" t="t" l="l"/>
            <a:pathLst>
              <a:path h="1253109" w="1253109">
                <a:moveTo>
                  <a:pt x="0" y="0"/>
                </a:moveTo>
                <a:lnTo>
                  <a:pt x="1253109" y="0"/>
                </a:lnTo>
                <a:lnTo>
                  <a:pt x="1253109" y="1253109"/>
                </a:lnTo>
                <a:lnTo>
                  <a:pt x="0" y="1253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801314" y="8049187"/>
            <a:ext cx="1019470" cy="92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94609" y="7915037"/>
            <a:ext cx="11392424" cy="121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a browser-based platform for structure design, execution, and safe operation of the robotic system.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 AND BOUNDARIES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“CLOSED-LOOP” MEANS IN THIS PROJECT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4128" y="2834640"/>
            <a:ext cx="16239744" cy="2788920"/>
            <a:chOff x="0" y="0"/>
            <a:chExt cx="21652992" cy="3718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52992" cy="3718560"/>
            </a:xfrm>
            <a:custGeom>
              <a:avLst/>
              <a:gdLst/>
              <a:ahLst/>
              <a:cxnLst/>
              <a:rect r="r" b="b" t="t" l="l"/>
              <a:pathLst>
                <a:path h="3718560" w="21652992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lnTo>
                    <a:pt x="21238463" y="0"/>
                  </a:lnTo>
                  <a:cubicBezTo>
                    <a:pt x="21467445" y="0"/>
                    <a:pt x="21652992" y="185547"/>
                    <a:pt x="21652992" y="414528"/>
                  </a:cubicBezTo>
                  <a:lnTo>
                    <a:pt x="21652992" y="3304032"/>
                  </a:lnTo>
                  <a:cubicBezTo>
                    <a:pt x="21652992" y="3533013"/>
                    <a:pt x="21467445" y="3718560"/>
                    <a:pt x="21238463" y="3718560"/>
                  </a:cubicBezTo>
                  <a:lnTo>
                    <a:pt x="414528" y="3718560"/>
                  </a:lnTo>
                  <a:cubicBezTo>
                    <a:pt x="185547" y="3718560"/>
                    <a:pt x="0" y="3533013"/>
                    <a:pt x="0" y="3304032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91056" y="3144012"/>
            <a:ext cx="150876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Sensor- and vision-confirmed sequencing — not servo position control.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1056" y="3984498"/>
            <a:ext cx="150876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000">
                <a:solidFill>
                  <a:srgbClr val="D9E1F8"/>
                </a:solidFill>
                <a:latin typeface="Poppins"/>
                <a:ea typeface="Poppins"/>
                <a:cs typeface="Poppins"/>
                <a:sym typeface="Poppins"/>
              </a:rPr>
              <a:t>The machine never verifies a motor shaft. It verifies that a block left the hopper, that a block reached the pickup point, that a build phase began and ended, and that a block is visible where one was commanded. Each of those can refuse permission for the step after it.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16194" y="5981386"/>
            <a:ext cx="7833998" cy="3508886"/>
            <a:chOff x="0" y="0"/>
            <a:chExt cx="10445331" cy="46785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5242" cy="4678426"/>
            </a:xfrm>
            <a:custGeom>
              <a:avLst/>
              <a:gdLst/>
              <a:ahLst/>
              <a:cxnLst/>
              <a:rect r="r" b="b" t="t" l="l"/>
              <a:pathLst>
                <a:path h="4678426" w="10445242">
                  <a:moveTo>
                    <a:pt x="0" y="318389"/>
                  </a:moveTo>
                  <a:cubicBezTo>
                    <a:pt x="0" y="142621"/>
                    <a:pt x="142621" y="0"/>
                    <a:pt x="318389" y="0"/>
                  </a:cubicBezTo>
                  <a:lnTo>
                    <a:pt x="10126853" y="0"/>
                  </a:lnTo>
                  <a:cubicBezTo>
                    <a:pt x="10302748" y="0"/>
                    <a:pt x="10445242" y="142621"/>
                    <a:pt x="10445242" y="318389"/>
                  </a:cubicBezTo>
                  <a:lnTo>
                    <a:pt x="10445242" y="4360037"/>
                  </a:lnTo>
                  <a:cubicBezTo>
                    <a:pt x="10445242" y="4535932"/>
                    <a:pt x="10302622" y="4678426"/>
                    <a:pt x="10126853" y="4678426"/>
                  </a:cubicBezTo>
                  <a:lnTo>
                    <a:pt x="318389" y="4678426"/>
                  </a:lnTo>
                  <a:cubicBezTo>
                    <a:pt x="142621" y="4678553"/>
                    <a:pt x="0" y="4535932"/>
                    <a:pt x="0" y="436003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81328" y="6216015"/>
            <a:ext cx="694944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1328" y="6856095"/>
            <a:ext cx="690372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CoreXY gantry, Z axis, servo claw, 90° rotation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Self-feeding module with two ultrasonic confirmations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Overhead fisheye camera, detection and grid calibration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Browser console, 3D Build Studio, digital twin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Two serial protocols and the Pi orchestration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1514" y="5981386"/>
            <a:ext cx="7833998" cy="3508886"/>
            <a:chOff x="0" y="0"/>
            <a:chExt cx="10445331" cy="46785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5242" cy="4678426"/>
            </a:xfrm>
            <a:custGeom>
              <a:avLst/>
              <a:gdLst/>
              <a:ahLst/>
              <a:cxnLst/>
              <a:rect r="r" b="b" t="t" l="l"/>
              <a:pathLst>
                <a:path h="4678426" w="10445242">
                  <a:moveTo>
                    <a:pt x="0" y="318389"/>
                  </a:moveTo>
                  <a:cubicBezTo>
                    <a:pt x="0" y="142621"/>
                    <a:pt x="142621" y="0"/>
                    <a:pt x="318389" y="0"/>
                  </a:cubicBezTo>
                  <a:lnTo>
                    <a:pt x="10126853" y="0"/>
                  </a:lnTo>
                  <a:cubicBezTo>
                    <a:pt x="10302748" y="0"/>
                    <a:pt x="10445242" y="142621"/>
                    <a:pt x="10445242" y="318389"/>
                  </a:cubicBezTo>
                  <a:lnTo>
                    <a:pt x="10445242" y="4360037"/>
                  </a:lnTo>
                  <a:cubicBezTo>
                    <a:pt x="10445242" y="4535932"/>
                    <a:pt x="10302622" y="4678426"/>
                    <a:pt x="10126853" y="4678426"/>
                  </a:cubicBezTo>
                  <a:lnTo>
                    <a:pt x="318389" y="4678426"/>
                  </a:lnTo>
                  <a:cubicBezTo>
                    <a:pt x="142621" y="4678553"/>
                    <a:pt x="0" y="4535932"/>
                    <a:pt x="0" y="436003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756648" y="6216015"/>
            <a:ext cx="694944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 OF SCOPE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56648" y="6856095"/>
            <a:ext cx="690372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Autonomous planning — the human designs the structure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Interrupting a motion already in progress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Metrological (checkerboard) camera calibration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Closed-loop motor control — there are no encoders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Multi-operator accounts and WebRTC video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4128" y="1417320"/>
            <a:ext cx="16239744" cy="7452360"/>
            <a:chOff x="0" y="0"/>
            <a:chExt cx="21652992" cy="9936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52993" cy="9936480"/>
            </a:xfrm>
            <a:custGeom>
              <a:avLst/>
              <a:gdLst/>
              <a:ahLst/>
              <a:cxnLst/>
              <a:rect r="r" b="b" t="t" l="l"/>
              <a:pathLst>
                <a:path h="9936480" w="21652993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lnTo>
                    <a:pt x="20982432" y="0"/>
                  </a:lnTo>
                  <a:cubicBezTo>
                    <a:pt x="21352765" y="0"/>
                    <a:pt x="21652993" y="300228"/>
                    <a:pt x="21652993" y="670560"/>
                  </a:cubicBezTo>
                  <a:lnTo>
                    <a:pt x="21652993" y="9265920"/>
                  </a:lnTo>
                  <a:cubicBezTo>
                    <a:pt x="21652993" y="9636251"/>
                    <a:pt x="21352765" y="9936480"/>
                    <a:pt x="20982432" y="9936480"/>
                  </a:cubicBezTo>
                  <a:lnTo>
                    <a:pt x="670560" y="9936480"/>
                  </a:lnTo>
                  <a:cubicBezTo>
                    <a:pt x="300228" y="9936480"/>
                    <a:pt x="0" y="9636252"/>
                    <a:pt x="0" y="9265920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11680" y="2531745"/>
            <a:ext cx="475488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1000">
                <a:solidFill>
                  <a:srgbClr val="3E5FC4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680" y="3998595"/>
            <a:ext cx="8778240" cy="23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639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680" y="6497955"/>
            <a:ext cx="841248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The three-controller architecture, the mechanics, and the components the machine is actually made of.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09960" y="2331720"/>
            <a:ext cx="5394960" cy="5623560"/>
            <a:chOff x="0" y="0"/>
            <a:chExt cx="7193280" cy="749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7498080"/>
            </a:xfrm>
            <a:custGeom>
              <a:avLst/>
              <a:gdLst/>
              <a:ahLst/>
              <a:cxnLst/>
              <a:rect r="r" b="b" t="t" l="l"/>
              <a:pathLst>
                <a:path h="7498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83" r="0" b="-168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39781" y="4191486"/>
            <a:ext cx="7325363" cy="171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Computer vision detects blocks and guides the robot to build predefined structures.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41262" y="8285112"/>
            <a:ext cx="1725054" cy="1684277"/>
            <a:chOff x="0" y="0"/>
            <a:chExt cx="2300072" cy="22457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0097" cy="2245741"/>
            </a:xfrm>
            <a:custGeom>
              <a:avLst/>
              <a:gdLst/>
              <a:ahLst/>
              <a:cxnLst/>
              <a:rect r="r" b="b" t="t" l="l"/>
              <a:pathLst>
                <a:path h="2245741" w="2300097">
                  <a:moveTo>
                    <a:pt x="0" y="0"/>
                  </a:moveTo>
                  <a:lnTo>
                    <a:pt x="2300097" y="0"/>
                  </a:lnTo>
                  <a:lnTo>
                    <a:pt x="2300097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1" b="-2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64609" y="2220611"/>
            <a:ext cx="16774554" cy="4960134"/>
          </a:xfrm>
          <a:custGeom>
            <a:avLst/>
            <a:gdLst/>
            <a:ahLst/>
            <a:cxnLst/>
            <a:rect r="r" b="b" t="t" l="l"/>
            <a:pathLst>
              <a:path h="4960134" w="16774554">
                <a:moveTo>
                  <a:pt x="0" y="0"/>
                </a:moveTo>
                <a:lnTo>
                  <a:pt x="16774553" y="0"/>
                </a:lnTo>
                <a:lnTo>
                  <a:pt x="16774553" y="4960134"/>
                </a:lnTo>
                <a:lnTo>
                  <a:pt x="0" y="4960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64410" y="2597668"/>
            <a:ext cx="6748272" cy="7050757"/>
            <a:chOff x="0" y="0"/>
            <a:chExt cx="8997696" cy="94010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97696" cy="9401048"/>
            </a:xfrm>
            <a:custGeom>
              <a:avLst/>
              <a:gdLst/>
              <a:ahLst/>
              <a:cxnLst/>
              <a:rect r="r" b="b" t="t" l="l"/>
              <a:pathLst>
                <a:path h="9401048" w="8997696">
                  <a:moveTo>
                    <a:pt x="0" y="0"/>
                  </a:moveTo>
                  <a:lnTo>
                    <a:pt x="8997696" y="0"/>
                  </a:lnTo>
                  <a:lnTo>
                    <a:pt x="8997696" y="9401048"/>
                  </a:lnTo>
                  <a:lnTo>
                    <a:pt x="0" y="9401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" r="0" b="-2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3789" y="857250"/>
            <a:ext cx="15817777" cy="87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4"/>
              </a:lnSpc>
            </a:pPr>
            <a:r>
              <a:rPr lang="en-US" sz="461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OVERALL 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THREE CONTROLLERS, ONE MASTER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MASTER, TWO ISOLATED SLAVES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780986"/>
            <a:ext cx="5154806" cy="5090798"/>
            <a:chOff x="0" y="0"/>
            <a:chExt cx="6873075" cy="67877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72987" cy="6787642"/>
            </a:xfrm>
            <a:custGeom>
              <a:avLst/>
              <a:gdLst/>
              <a:ahLst/>
              <a:cxnLst/>
              <a:rect r="r" b="b" t="t" l="l"/>
              <a:pathLst>
                <a:path h="6787642" w="6872987">
                  <a:moveTo>
                    <a:pt x="0" y="317881"/>
                  </a:moveTo>
                  <a:cubicBezTo>
                    <a:pt x="0" y="142367"/>
                    <a:pt x="142367" y="0"/>
                    <a:pt x="317881" y="0"/>
                  </a:cubicBezTo>
                  <a:lnTo>
                    <a:pt x="6555105" y="0"/>
                  </a:lnTo>
                  <a:cubicBezTo>
                    <a:pt x="6730747" y="0"/>
                    <a:pt x="6872987" y="142367"/>
                    <a:pt x="6872987" y="317881"/>
                  </a:cubicBezTo>
                  <a:lnTo>
                    <a:pt x="6872987" y="6469761"/>
                  </a:lnTo>
                  <a:cubicBezTo>
                    <a:pt x="6872987" y="6645402"/>
                    <a:pt x="6730619" y="6787642"/>
                    <a:pt x="6555105" y="6787642"/>
                  </a:cubicBezTo>
                  <a:lnTo>
                    <a:pt x="317881" y="6787642"/>
                  </a:lnTo>
                  <a:cubicBezTo>
                    <a:pt x="142367" y="6787769"/>
                    <a:pt x="0" y="6645402"/>
                    <a:pt x="0" y="646976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2788920"/>
            <a:ext cx="5138928" cy="1234440"/>
            <a:chOff x="0" y="0"/>
            <a:chExt cx="6851904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19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685190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534912" y="0"/>
                  </a:lnTo>
                  <a:cubicBezTo>
                    <a:pt x="6709918" y="0"/>
                    <a:pt x="6851904" y="141859"/>
                    <a:pt x="6851904" y="316992"/>
                  </a:cubicBezTo>
                  <a:lnTo>
                    <a:pt x="6851904" y="1328928"/>
                  </a:lnTo>
                  <a:cubicBezTo>
                    <a:pt x="6851904" y="1503934"/>
                    <a:pt x="6710045" y="1645920"/>
                    <a:pt x="6534912" y="1645920"/>
                  </a:cubicBezTo>
                  <a:lnTo>
                    <a:pt x="316992" y="1645920"/>
                  </a:lnTo>
                  <a:cubicBezTo>
                    <a:pt x="141859" y="1645920"/>
                    <a:pt x="0" y="1504061"/>
                    <a:pt x="0" y="13289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4128" y="3566160"/>
            <a:ext cx="5138928" cy="457200"/>
            <a:chOff x="0" y="0"/>
            <a:chExt cx="6851904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1904" cy="609600"/>
            </a:xfrm>
            <a:custGeom>
              <a:avLst/>
              <a:gdLst/>
              <a:ahLst/>
              <a:cxnLst/>
              <a:rect r="r" b="b" t="t" l="l"/>
              <a:pathLst>
                <a:path h="609600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4168" y="3044571"/>
            <a:ext cx="449884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4168" y="3528822"/>
            <a:ext cx="4498848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120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8 GB · THE MASTER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168" y="4305300"/>
            <a:ext cx="4498848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Camera capture and the whole vision pipeline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FastAPI web service, WebSocket event stream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Studio and the browser application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Two-board orchestration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Every safety gate and the session lock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66602" y="2780986"/>
            <a:ext cx="5154806" cy="5090798"/>
            <a:chOff x="0" y="0"/>
            <a:chExt cx="6873075" cy="67877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72987" cy="6787642"/>
            </a:xfrm>
            <a:custGeom>
              <a:avLst/>
              <a:gdLst/>
              <a:ahLst/>
              <a:cxnLst/>
              <a:rect r="r" b="b" t="t" l="l"/>
              <a:pathLst>
                <a:path h="6787642" w="6872987">
                  <a:moveTo>
                    <a:pt x="0" y="317881"/>
                  </a:moveTo>
                  <a:cubicBezTo>
                    <a:pt x="0" y="142367"/>
                    <a:pt x="142367" y="0"/>
                    <a:pt x="317881" y="0"/>
                  </a:cubicBezTo>
                  <a:lnTo>
                    <a:pt x="6555105" y="0"/>
                  </a:lnTo>
                  <a:cubicBezTo>
                    <a:pt x="6730747" y="0"/>
                    <a:pt x="6872987" y="142367"/>
                    <a:pt x="6872987" y="317881"/>
                  </a:cubicBezTo>
                  <a:lnTo>
                    <a:pt x="6872987" y="6469761"/>
                  </a:lnTo>
                  <a:cubicBezTo>
                    <a:pt x="6872987" y="6645402"/>
                    <a:pt x="6730619" y="6787642"/>
                    <a:pt x="6555105" y="6787642"/>
                  </a:cubicBezTo>
                  <a:lnTo>
                    <a:pt x="317881" y="6787642"/>
                  </a:lnTo>
                  <a:cubicBezTo>
                    <a:pt x="142367" y="6787769"/>
                    <a:pt x="0" y="6645402"/>
                    <a:pt x="0" y="646976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74536" y="2788920"/>
            <a:ext cx="5138928" cy="1234440"/>
            <a:chOff x="0" y="0"/>
            <a:chExt cx="6851904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19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685190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534912" y="0"/>
                  </a:lnTo>
                  <a:cubicBezTo>
                    <a:pt x="6709918" y="0"/>
                    <a:pt x="6851904" y="141859"/>
                    <a:pt x="6851904" y="316992"/>
                  </a:cubicBezTo>
                  <a:lnTo>
                    <a:pt x="6851904" y="1328928"/>
                  </a:lnTo>
                  <a:cubicBezTo>
                    <a:pt x="6851904" y="1503934"/>
                    <a:pt x="6710045" y="1645920"/>
                    <a:pt x="6534912" y="1645920"/>
                  </a:cubicBezTo>
                  <a:lnTo>
                    <a:pt x="316992" y="1645920"/>
                  </a:lnTo>
                  <a:cubicBezTo>
                    <a:pt x="141859" y="1645920"/>
                    <a:pt x="0" y="1504061"/>
                    <a:pt x="0" y="13289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74536" y="3566160"/>
            <a:ext cx="5138928" cy="457200"/>
            <a:chOff x="0" y="0"/>
            <a:chExt cx="6851904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1904" cy="609600"/>
            </a:xfrm>
            <a:custGeom>
              <a:avLst/>
              <a:gdLst/>
              <a:ahLst/>
              <a:cxnLst/>
              <a:rect r="r" b="b" t="t" l="l"/>
              <a:pathLst>
                <a:path h="609600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94576" y="3044571"/>
            <a:ext cx="449884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Arduino MEGA 2560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94576" y="3528822"/>
            <a:ext cx="4498848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120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THE GANTRY · 9600 8N1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4576" y="4305300"/>
            <a:ext cx="4498848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X, Y and Z step generation and direction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Homing, hardware and software limits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Grid-to-steps arithmetic, both grids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Gripper servo and rotation stepper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fourteen-phase build cycle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17010" y="2780986"/>
            <a:ext cx="5154806" cy="5090798"/>
            <a:chOff x="0" y="0"/>
            <a:chExt cx="6873075" cy="67877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72987" cy="6787642"/>
            </a:xfrm>
            <a:custGeom>
              <a:avLst/>
              <a:gdLst/>
              <a:ahLst/>
              <a:cxnLst/>
              <a:rect r="r" b="b" t="t" l="l"/>
              <a:pathLst>
                <a:path h="6787642" w="6872987">
                  <a:moveTo>
                    <a:pt x="0" y="317881"/>
                  </a:moveTo>
                  <a:cubicBezTo>
                    <a:pt x="0" y="142367"/>
                    <a:pt x="142367" y="0"/>
                    <a:pt x="317881" y="0"/>
                  </a:cubicBezTo>
                  <a:lnTo>
                    <a:pt x="6555105" y="0"/>
                  </a:lnTo>
                  <a:cubicBezTo>
                    <a:pt x="6730747" y="0"/>
                    <a:pt x="6872987" y="142367"/>
                    <a:pt x="6872987" y="317881"/>
                  </a:cubicBezTo>
                  <a:lnTo>
                    <a:pt x="6872987" y="6469761"/>
                  </a:lnTo>
                  <a:cubicBezTo>
                    <a:pt x="6872987" y="6645402"/>
                    <a:pt x="6730619" y="6787642"/>
                    <a:pt x="6555105" y="6787642"/>
                  </a:cubicBezTo>
                  <a:lnTo>
                    <a:pt x="317881" y="6787642"/>
                  </a:lnTo>
                  <a:cubicBezTo>
                    <a:pt x="142367" y="6787769"/>
                    <a:pt x="0" y="6645402"/>
                    <a:pt x="0" y="646976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24944" y="2788920"/>
            <a:ext cx="5138928" cy="1234440"/>
            <a:chOff x="0" y="0"/>
            <a:chExt cx="6851904" cy="164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19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685190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6534912" y="0"/>
                  </a:lnTo>
                  <a:cubicBezTo>
                    <a:pt x="6709918" y="0"/>
                    <a:pt x="6851904" y="141859"/>
                    <a:pt x="6851904" y="316992"/>
                  </a:cubicBezTo>
                  <a:lnTo>
                    <a:pt x="6851904" y="1328928"/>
                  </a:lnTo>
                  <a:cubicBezTo>
                    <a:pt x="6851904" y="1503934"/>
                    <a:pt x="6710045" y="1645920"/>
                    <a:pt x="6534912" y="1645920"/>
                  </a:cubicBezTo>
                  <a:lnTo>
                    <a:pt x="316992" y="1645920"/>
                  </a:lnTo>
                  <a:cubicBezTo>
                    <a:pt x="141859" y="1645920"/>
                    <a:pt x="0" y="1504061"/>
                    <a:pt x="0" y="13289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24944" y="3566160"/>
            <a:ext cx="5138928" cy="457200"/>
            <a:chOff x="0" y="0"/>
            <a:chExt cx="6851904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1904" cy="609600"/>
            </a:xfrm>
            <a:custGeom>
              <a:avLst/>
              <a:gdLst/>
              <a:ahLst/>
              <a:cxnLst/>
              <a:rect r="r" b="b" t="t" l="l"/>
              <a:pathLst>
                <a:path h="609600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444984" y="3044571"/>
            <a:ext cx="449884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Arduino Uno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4984" y="3528822"/>
            <a:ext cx="4498848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120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THE FEEDER · 9600 8N1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44984" y="4305300"/>
            <a:ext cx="4498848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Two-stage hopper gate servo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Conveyor belt stepper (A4988)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Alignment servo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Both HC-SR04 ultrasonic sensors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complete feed state machine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24128" y="8183880"/>
            <a:ext cx="16239744" cy="1298448"/>
            <a:chOff x="0" y="0"/>
            <a:chExt cx="21652992" cy="17312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652993" cy="1731264"/>
            </a:xfrm>
            <a:custGeom>
              <a:avLst/>
              <a:gdLst/>
              <a:ahLst/>
              <a:cxnLst/>
              <a:rect r="r" b="b" t="t" l="l"/>
              <a:pathLst>
                <a:path h="1731264" w="21652993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287232" y="0"/>
                  </a:lnTo>
                  <a:cubicBezTo>
                    <a:pt x="21489290" y="0"/>
                    <a:pt x="21652993" y="163703"/>
                    <a:pt x="21652993" y="365760"/>
                  </a:cubicBezTo>
                  <a:lnTo>
                    <a:pt x="21652993" y="1365504"/>
                  </a:lnTo>
                  <a:cubicBezTo>
                    <a:pt x="21652993" y="1567561"/>
                    <a:pt x="21489290" y="1731264"/>
                    <a:pt x="21287232" y="1731264"/>
                  </a:cubicBezTo>
                  <a:lnTo>
                    <a:pt x="365760" y="1731264"/>
                  </a:lnTo>
                  <a:cubicBezTo>
                    <a:pt x="163703" y="1731264"/>
                    <a:pt x="0" y="1567561"/>
                    <a:pt x="0" y="13655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27048" y="8446770"/>
            <a:ext cx="1527048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0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two Arduinos have no wire between them and neither can command the other. That isolation is a safety property: permission to pick a block up can only be granted where the master can see it.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ONE BLOCK GETS BUILT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 › COMPILE › FEED › PLACE › VERIFY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3283906"/>
            <a:ext cx="3015110" cy="3993518"/>
            <a:chOff x="0" y="0"/>
            <a:chExt cx="4020147" cy="53246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0185" cy="5324729"/>
            </a:xfrm>
            <a:custGeom>
              <a:avLst/>
              <a:gdLst/>
              <a:ahLst/>
              <a:cxnLst/>
              <a:rect r="r" b="b" t="t" l="l"/>
              <a:pathLst>
                <a:path h="5324729" w="4020185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3701542" y="0"/>
                  </a:lnTo>
                  <a:cubicBezTo>
                    <a:pt x="3877564" y="0"/>
                    <a:pt x="4020185" y="142621"/>
                    <a:pt x="4020185" y="318643"/>
                  </a:cubicBezTo>
                  <a:lnTo>
                    <a:pt x="4020185" y="5006086"/>
                  </a:lnTo>
                  <a:cubicBezTo>
                    <a:pt x="4020185" y="5182108"/>
                    <a:pt x="3877564" y="5324729"/>
                    <a:pt x="3701542" y="5324729"/>
                  </a:cubicBezTo>
                  <a:lnTo>
                    <a:pt x="318643" y="5324729"/>
                  </a:lnTo>
                  <a:cubicBezTo>
                    <a:pt x="142621" y="5324729"/>
                    <a:pt x="0" y="5181981"/>
                    <a:pt x="0" y="500608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4128" y="3291840"/>
            <a:ext cx="2999232" cy="1005840"/>
            <a:chOff x="0" y="0"/>
            <a:chExt cx="3998976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897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9897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681984" y="0"/>
                  </a:lnTo>
                  <a:cubicBezTo>
                    <a:pt x="3856990" y="0"/>
                    <a:pt x="3998976" y="141859"/>
                    <a:pt x="3998976" y="316992"/>
                  </a:cubicBezTo>
                  <a:lnTo>
                    <a:pt x="3998976" y="1024128"/>
                  </a:lnTo>
                  <a:cubicBezTo>
                    <a:pt x="3998976" y="1199134"/>
                    <a:pt x="3857117" y="1341120"/>
                    <a:pt x="3681984" y="1341120"/>
                  </a:cubicBezTo>
                  <a:lnTo>
                    <a:pt x="316992" y="1341120"/>
                  </a:lnTo>
                  <a:cubicBezTo>
                    <a:pt x="141859" y="1341120"/>
                    <a:pt x="0" y="1199261"/>
                    <a:pt x="0" y="10241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4128" y="3794760"/>
            <a:ext cx="2999232" cy="502920"/>
            <a:chOff x="0" y="0"/>
            <a:chExt cx="3998976" cy="670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98976" cy="670560"/>
            </a:xfrm>
            <a:custGeom>
              <a:avLst/>
              <a:gdLst/>
              <a:ahLst/>
              <a:cxnLst/>
              <a:rect r="r" b="b" t="t" l="l"/>
              <a:pathLst>
                <a:path h="670560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493008"/>
            <a:ext cx="603504" cy="603504"/>
            <a:chOff x="0" y="0"/>
            <a:chExt cx="804672" cy="80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0160" y="3627882"/>
            <a:ext cx="603504" cy="5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6816" y="3649599"/>
            <a:ext cx="1810512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736" y="4606290"/>
            <a:ext cx="2414016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person places blocks in the Studio, on the machine's real lattice.</a:t>
            </a:r>
          </a:p>
        </p:txBody>
      </p:sp>
      <p:sp>
        <p:nvSpPr>
          <p:cNvPr name="AutoShape 17" id="17"/>
          <p:cNvSpPr/>
          <p:nvPr/>
        </p:nvSpPr>
        <p:spPr>
          <a:xfrm rot="386580">
            <a:off x="4054326" y="5275707"/>
            <a:ext cx="248964" cy="0"/>
          </a:xfrm>
          <a:prstGeom prst="line">
            <a:avLst/>
          </a:prstGeom>
          <a:ln cap="rnd" w="19050">
            <a:solidFill>
              <a:srgbClr val="1E40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4326322" y="3283906"/>
            <a:ext cx="3015110" cy="3993518"/>
            <a:chOff x="0" y="0"/>
            <a:chExt cx="4020147" cy="53246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0185" cy="5324729"/>
            </a:xfrm>
            <a:custGeom>
              <a:avLst/>
              <a:gdLst/>
              <a:ahLst/>
              <a:cxnLst/>
              <a:rect r="r" b="b" t="t" l="l"/>
              <a:pathLst>
                <a:path h="5324729" w="4020185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3701542" y="0"/>
                  </a:lnTo>
                  <a:cubicBezTo>
                    <a:pt x="3877564" y="0"/>
                    <a:pt x="4020185" y="142621"/>
                    <a:pt x="4020185" y="318643"/>
                  </a:cubicBezTo>
                  <a:lnTo>
                    <a:pt x="4020185" y="5006086"/>
                  </a:lnTo>
                  <a:cubicBezTo>
                    <a:pt x="4020185" y="5182108"/>
                    <a:pt x="3877564" y="5324729"/>
                    <a:pt x="3701542" y="5324729"/>
                  </a:cubicBezTo>
                  <a:lnTo>
                    <a:pt x="318643" y="5324729"/>
                  </a:lnTo>
                  <a:cubicBezTo>
                    <a:pt x="142621" y="5324729"/>
                    <a:pt x="0" y="5181981"/>
                    <a:pt x="0" y="500608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334256" y="3291840"/>
            <a:ext cx="2999232" cy="1005840"/>
            <a:chOff x="0" y="0"/>
            <a:chExt cx="3998976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9897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9897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681984" y="0"/>
                  </a:lnTo>
                  <a:cubicBezTo>
                    <a:pt x="3856990" y="0"/>
                    <a:pt x="3998976" y="141859"/>
                    <a:pt x="3998976" y="316992"/>
                  </a:cubicBezTo>
                  <a:lnTo>
                    <a:pt x="3998976" y="1024128"/>
                  </a:lnTo>
                  <a:cubicBezTo>
                    <a:pt x="3998976" y="1199134"/>
                    <a:pt x="3857117" y="1341120"/>
                    <a:pt x="3681984" y="1341120"/>
                  </a:cubicBezTo>
                  <a:lnTo>
                    <a:pt x="316992" y="1341120"/>
                  </a:lnTo>
                  <a:cubicBezTo>
                    <a:pt x="141859" y="1341120"/>
                    <a:pt x="0" y="1199261"/>
                    <a:pt x="0" y="10241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334256" y="3794760"/>
            <a:ext cx="2999232" cy="502920"/>
            <a:chOff x="0" y="0"/>
            <a:chExt cx="3998976" cy="670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98976" cy="670560"/>
            </a:xfrm>
            <a:custGeom>
              <a:avLst/>
              <a:gdLst/>
              <a:ahLst/>
              <a:cxnLst/>
              <a:rect r="r" b="b" t="t" l="l"/>
              <a:pathLst>
                <a:path h="670560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590288" y="3493008"/>
            <a:ext cx="603504" cy="603504"/>
            <a:chOff x="0" y="0"/>
            <a:chExt cx="804672" cy="80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590288" y="3627882"/>
            <a:ext cx="603504" cy="5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66944" y="3649599"/>
            <a:ext cx="1810512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COMPILE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26864" y="4606290"/>
            <a:ext cx="2414016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Sorted bottom-up, grouped by orientation, emitted as B col row level.</a:t>
            </a:r>
          </a:p>
        </p:txBody>
      </p:sp>
      <p:sp>
        <p:nvSpPr>
          <p:cNvPr name="AutoShape 29" id="29"/>
          <p:cNvSpPr/>
          <p:nvPr/>
        </p:nvSpPr>
        <p:spPr>
          <a:xfrm rot="386580">
            <a:off x="7364454" y="5275707"/>
            <a:ext cx="248964" cy="0"/>
          </a:xfrm>
          <a:prstGeom prst="line">
            <a:avLst/>
          </a:prstGeom>
          <a:ln cap="rnd" w="19050">
            <a:solidFill>
              <a:srgbClr val="1E40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7636450" y="3283906"/>
            <a:ext cx="3015110" cy="3993518"/>
            <a:chOff x="0" y="0"/>
            <a:chExt cx="4020147" cy="53246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0185" cy="5324729"/>
            </a:xfrm>
            <a:custGeom>
              <a:avLst/>
              <a:gdLst/>
              <a:ahLst/>
              <a:cxnLst/>
              <a:rect r="r" b="b" t="t" l="l"/>
              <a:pathLst>
                <a:path h="5324729" w="4020185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3701542" y="0"/>
                  </a:lnTo>
                  <a:cubicBezTo>
                    <a:pt x="3877564" y="0"/>
                    <a:pt x="4020185" y="142621"/>
                    <a:pt x="4020185" y="318643"/>
                  </a:cubicBezTo>
                  <a:lnTo>
                    <a:pt x="4020185" y="5006086"/>
                  </a:lnTo>
                  <a:cubicBezTo>
                    <a:pt x="4020185" y="5182108"/>
                    <a:pt x="3877564" y="5324729"/>
                    <a:pt x="3701542" y="5324729"/>
                  </a:cubicBezTo>
                  <a:lnTo>
                    <a:pt x="318643" y="5324729"/>
                  </a:lnTo>
                  <a:cubicBezTo>
                    <a:pt x="142621" y="5324729"/>
                    <a:pt x="0" y="5181981"/>
                    <a:pt x="0" y="500608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644384" y="3291840"/>
            <a:ext cx="2999232" cy="1005840"/>
            <a:chOff x="0" y="0"/>
            <a:chExt cx="3998976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9897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9897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681984" y="0"/>
                  </a:lnTo>
                  <a:cubicBezTo>
                    <a:pt x="3856990" y="0"/>
                    <a:pt x="3998976" y="141859"/>
                    <a:pt x="3998976" y="316992"/>
                  </a:cubicBezTo>
                  <a:lnTo>
                    <a:pt x="3998976" y="1024128"/>
                  </a:lnTo>
                  <a:cubicBezTo>
                    <a:pt x="3998976" y="1199134"/>
                    <a:pt x="3857117" y="1341120"/>
                    <a:pt x="3681984" y="1341120"/>
                  </a:cubicBezTo>
                  <a:lnTo>
                    <a:pt x="316992" y="1341120"/>
                  </a:lnTo>
                  <a:cubicBezTo>
                    <a:pt x="141859" y="1341120"/>
                    <a:pt x="0" y="1199261"/>
                    <a:pt x="0" y="10241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44384" y="3794760"/>
            <a:ext cx="2999232" cy="502920"/>
            <a:chOff x="0" y="0"/>
            <a:chExt cx="3998976" cy="670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98976" cy="670560"/>
            </a:xfrm>
            <a:custGeom>
              <a:avLst/>
              <a:gdLst/>
              <a:ahLst/>
              <a:cxnLst/>
              <a:rect r="r" b="b" t="t" l="l"/>
              <a:pathLst>
                <a:path h="670560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900416" y="3493008"/>
            <a:ext cx="603504" cy="603504"/>
            <a:chOff x="0" y="0"/>
            <a:chExt cx="804672" cy="8046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900416" y="3627882"/>
            <a:ext cx="603504" cy="5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7072" y="3649599"/>
            <a:ext cx="1810512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936992" y="4606290"/>
            <a:ext cx="2414016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One block doubly confirmed out of the hopper and onto the pickup point.</a:t>
            </a:r>
          </a:p>
        </p:txBody>
      </p:sp>
      <p:sp>
        <p:nvSpPr>
          <p:cNvPr name="AutoShape 41" id="41"/>
          <p:cNvSpPr/>
          <p:nvPr/>
        </p:nvSpPr>
        <p:spPr>
          <a:xfrm rot="386580">
            <a:off x="10674582" y="5275707"/>
            <a:ext cx="248964" cy="0"/>
          </a:xfrm>
          <a:prstGeom prst="line">
            <a:avLst/>
          </a:prstGeom>
          <a:ln cap="rnd" w="19050">
            <a:solidFill>
              <a:srgbClr val="1E40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0946578" y="3283906"/>
            <a:ext cx="3015110" cy="3993518"/>
            <a:chOff x="0" y="0"/>
            <a:chExt cx="4020147" cy="53246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20185" cy="5324729"/>
            </a:xfrm>
            <a:custGeom>
              <a:avLst/>
              <a:gdLst/>
              <a:ahLst/>
              <a:cxnLst/>
              <a:rect r="r" b="b" t="t" l="l"/>
              <a:pathLst>
                <a:path h="5324729" w="4020185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3701542" y="0"/>
                  </a:lnTo>
                  <a:cubicBezTo>
                    <a:pt x="3877564" y="0"/>
                    <a:pt x="4020185" y="142621"/>
                    <a:pt x="4020185" y="318643"/>
                  </a:cubicBezTo>
                  <a:lnTo>
                    <a:pt x="4020185" y="5006086"/>
                  </a:lnTo>
                  <a:cubicBezTo>
                    <a:pt x="4020185" y="5182108"/>
                    <a:pt x="3877564" y="5324729"/>
                    <a:pt x="3701542" y="5324729"/>
                  </a:cubicBezTo>
                  <a:lnTo>
                    <a:pt x="318643" y="5324729"/>
                  </a:lnTo>
                  <a:cubicBezTo>
                    <a:pt x="142621" y="5324729"/>
                    <a:pt x="0" y="5181981"/>
                    <a:pt x="0" y="500608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54512" y="3291840"/>
            <a:ext cx="2999232" cy="1005840"/>
            <a:chOff x="0" y="0"/>
            <a:chExt cx="3998976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9897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9897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681984" y="0"/>
                  </a:lnTo>
                  <a:cubicBezTo>
                    <a:pt x="3856990" y="0"/>
                    <a:pt x="3998976" y="141859"/>
                    <a:pt x="3998976" y="316992"/>
                  </a:cubicBezTo>
                  <a:lnTo>
                    <a:pt x="3998976" y="1024128"/>
                  </a:lnTo>
                  <a:cubicBezTo>
                    <a:pt x="3998976" y="1199134"/>
                    <a:pt x="3857117" y="1341120"/>
                    <a:pt x="3681984" y="1341120"/>
                  </a:cubicBezTo>
                  <a:lnTo>
                    <a:pt x="316992" y="1341120"/>
                  </a:lnTo>
                  <a:cubicBezTo>
                    <a:pt x="141859" y="1341120"/>
                    <a:pt x="0" y="1199261"/>
                    <a:pt x="0" y="10241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954512" y="3794760"/>
            <a:ext cx="2999232" cy="502920"/>
            <a:chOff x="0" y="0"/>
            <a:chExt cx="3998976" cy="670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98976" cy="670560"/>
            </a:xfrm>
            <a:custGeom>
              <a:avLst/>
              <a:gdLst/>
              <a:ahLst/>
              <a:cxnLst/>
              <a:rect r="r" b="b" t="t" l="l"/>
              <a:pathLst>
                <a:path h="670560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210544" y="3493008"/>
            <a:ext cx="603504" cy="603504"/>
            <a:chOff x="0" y="0"/>
            <a:chExt cx="804672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210544" y="3627882"/>
            <a:ext cx="603504" cy="5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887200" y="3649599"/>
            <a:ext cx="1810512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247120" y="4606290"/>
            <a:ext cx="2414016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Only then the fourteen-phase pick, rotate, place and park cycle.</a:t>
            </a:r>
          </a:p>
        </p:txBody>
      </p:sp>
      <p:sp>
        <p:nvSpPr>
          <p:cNvPr name="AutoShape 53" id="53"/>
          <p:cNvSpPr/>
          <p:nvPr/>
        </p:nvSpPr>
        <p:spPr>
          <a:xfrm rot="386580">
            <a:off x="13984710" y="5275707"/>
            <a:ext cx="248964" cy="0"/>
          </a:xfrm>
          <a:prstGeom prst="line">
            <a:avLst/>
          </a:prstGeom>
          <a:ln cap="rnd" w="19050">
            <a:solidFill>
              <a:srgbClr val="1E40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14256706" y="3283906"/>
            <a:ext cx="3015110" cy="3993518"/>
            <a:chOff x="0" y="0"/>
            <a:chExt cx="4020147" cy="53246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0185" cy="5324729"/>
            </a:xfrm>
            <a:custGeom>
              <a:avLst/>
              <a:gdLst/>
              <a:ahLst/>
              <a:cxnLst/>
              <a:rect r="r" b="b" t="t" l="l"/>
              <a:pathLst>
                <a:path h="5324729" w="4020185">
                  <a:moveTo>
                    <a:pt x="0" y="318643"/>
                  </a:moveTo>
                  <a:cubicBezTo>
                    <a:pt x="0" y="142621"/>
                    <a:pt x="142621" y="0"/>
                    <a:pt x="318643" y="0"/>
                  </a:cubicBezTo>
                  <a:lnTo>
                    <a:pt x="3701542" y="0"/>
                  </a:lnTo>
                  <a:cubicBezTo>
                    <a:pt x="3877564" y="0"/>
                    <a:pt x="4020185" y="142621"/>
                    <a:pt x="4020185" y="318643"/>
                  </a:cubicBezTo>
                  <a:lnTo>
                    <a:pt x="4020185" y="5006086"/>
                  </a:lnTo>
                  <a:cubicBezTo>
                    <a:pt x="4020185" y="5182108"/>
                    <a:pt x="3877564" y="5324729"/>
                    <a:pt x="3701542" y="5324729"/>
                  </a:cubicBezTo>
                  <a:lnTo>
                    <a:pt x="318643" y="5324729"/>
                  </a:lnTo>
                  <a:cubicBezTo>
                    <a:pt x="142621" y="5324729"/>
                    <a:pt x="0" y="5181981"/>
                    <a:pt x="0" y="500608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264640" y="3291840"/>
            <a:ext cx="2999232" cy="1005840"/>
            <a:chOff x="0" y="0"/>
            <a:chExt cx="3998976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98976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9897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3681984" y="0"/>
                  </a:lnTo>
                  <a:cubicBezTo>
                    <a:pt x="3856990" y="0"/>
                    <a:pt x="3998976" y="141859"/>
                    <a:pt x="3998976" y="316992"/>
                  </a:cubicBezTo>
                  <a:lnTo>
                    <a:pt x="3998976" y="1024128"/>
                  </a:lnTo>
                  <a:cubicBezTo>
                    <a:pt x="3998976" y="1199134"/>
                    <a:pt x="3857117" y="1341120"/>
                    <a:pt x="3681984" y="1341120"/>
                  </a:cubicBezTo>
                  <a:lnTo>
                    <a:pt x="316992" y="1341120"/>
                  </a:lnTo>
                  <a:cubicBezTo>
                    <a:pt x="141859" y="1341120"/>
                    <a:pt x="0" y="1199261"/>
                    <a:pt x="0" y="102412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264640" y="3794760"/>
            <a:ext cx="2999232" cy="502920"/>
            <a:chOff x="0" y="0"/>
            <a:chExt cx="3998976" cy="670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98976" cy="670560"/>
            </a:xfrm>
            <a:custGeom>
              <a:avLst/>
              <a:gdLst/>
              <a:ahLst/>
              <a:cxnLst/>
              <a:rect r="r" b="b" t="t" l="l"/>
              <a:pathLst>
                <a:path h="670560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520672" y="3493008"/>
            <a:ext cx="603504" cy="603504"/>
            <a:chOff x="0" y="0"/>
            <a:chExt cx="804672" cy="8046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4520672" y="3627882"/>
            <a:ext cx="603504" cy="5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197328" y="3649599"/>
            <a:ext cx="1810512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VERIFY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557248" y="4606290"/>
            <a:ext cx="2414016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camera watches; the twin mirrors the build from phase telemetry.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024128" y="7818120"/>
            <a:ext cx="16239744" cy="1691640"/>
            <a:chOff x="0" y="0"/>
            <a:chExt cx="21652992" cy="2255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652993" cy="2255520"/>
            </a:xfrm>
            <a:custGeom>
              <a:avLst/>
              <a:gdLst/>
              <a:ahLst/>
              <a:cxnLst/>
              <a:rect r="r" b="b" t="t" l="l"/>
              <a:pathLst>
                <a:path h="2255520" w="21652993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287232" y="0"/>
                  </a:lnTo>
                  <a:cubicBezTo>
                    <a:pt x="21489290" y="0"/>
                    <a:pt x="21652993" y="163703"/>
                    <a:pt x="21652993" y="365760"/>
                  </a:cubicBezTo>
                  <a:lnTo>
                    <a:pt x="21652993" y="1889760"/>
                  </a:lnTo>
                  <a:cubicBezTo>
                    <a:pt x="21652993" y="2091817"/>
                    <a:pt x="21489290" y="2255520"/>
                    <a:pt x="21287232" y="2255520"/>
                  </a:cubicBezTo>
                  <a:lnTo>
                    <a:pt x="365760" y="2255520"/>
                  </a:lnTo>
                  <a:cubicBezTo>
                    <a:pt x="163703" y="2255520"/>
                    <a:pt x="0" y="2091817"/>
                    <a:pt x="0" y="188976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527048" y="8035290"/>
            <a:ext cx="1527048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</a:pPr>
            <a:r>
              <a:rPr lang="en-US" sz="21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Nothing in this chain is advanced by a timer. Each stage waits for a durable terminal result from the stage before it, and a stage that cannot prove what happened stops the build instead of continuing.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89200" y="2473100"/>
            <a:ext cx="6295206" cy="4848835"/>
          </a:xfrm>
          <a:custGeom>
            <a:avLst/>
            <a:gdLst/>
            <a:ahLst/>
            <a:cxnLst/>
            <a:rect r="r" b="b" t="t" l="l"/>
            <a:pathLst>
              <a:path h="4848835" w="6295206">
                <a:moveTo>
                  <a:pt x="0" y="0"/>
                </a:moveTo>
                <a:lnTo>
                  <a:pt x="6295206" y="0"/>
                </a:lnTo>
                <a:lnTo>
                  <a:pt x="6295206" y="4848834"/>
                </a:lnTo>
                <a:lnTo>
                  <a:pt x="0" y="484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45261" y="365503"/>
            <a:ext cx="2491988" cy="2433085"/>
            <a:chOff x="0" y="0"/>
            <a:chExt cx="3322650" cy="3244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22701" cy="3244088"/>
            </a:xfrm>
            <a:custGeom>
              <a:avLst/>
              <a:gdLst/>
              <a:ahLst/>
              <a:cxnLst/>
              <a:rect r="r" b="b" t="t" l="l"/>
              <a:pathLst>
                <a:path h="3244088" w="3322701">
                  <a:moveTo>
                    <a:pt x="0" y="0"/>
                  </a:moveTo>
                  <a:lnTo>
                    <a:pt x="3322701" y="0"/>
                  </a:lnTo>
                  <a:lnTo>
                    <a:pt x="3322701" y="3244088"/>
                  </a:lnTo>
                  <a:lnTo>
                    <a:pt x="0" y="3244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" r="1" b="-3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703431" y="2566787"/>
            <a:ext cx="7231637" cy="6993417"/>
            <a:chOff x="0" y="0"/>
            <a:chExt cx="9642183" cy="93245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42221" cy="9324594"/>
            </a:xfrm>
            <a:custGeom>
              <a:avLst/>
              <a:gdLst/>
              <a:ahLst/>
              <a:cxnLst/>
              <a:rect r="r" b="b" t="t" l="l"/>
              <a:pathLst>
                <a:path h="9324594" w="9642221">
                  <a:moveTo>
                    <a:pt x="0" y="0"/>
                  </a:moveTo>
                  <a:lnTo>
                    <a:pt x="9642221" y="0"/>
                  </a:lnTo>
                  <a:lnTo>
                    <a:pt x="9642221" y="9324594"/>
                  </a:lnTo>
                  <a:lnTo>
                    <a:pt x="0" y="9324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" r="0" b="-2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00100"/>
            <a:ext cx="6705048" cy="101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MECHANICAL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95" y="3445935"/>
            <a:ext cx="5768416" cy="320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142" indent="-268714" lvl="2">
              <a:lnSpc>
                <a:spcPts val="4936"/>
              </a:lnSpc>
              <a:buFont typeface="Arial"/>
              <a:buChar char="⚬"/>
            </a:pPr>
            <a:r>
              <a:rPr lang="en-US" sz="35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X-axis motion system</a:t>
            </a:r>
          </a:p>
          <a:p>
            <a:pPr algn="l" marL="806142" indent="-268714" lvl="2">
              <a:lnSpc>
                <a:spcPts val="4936"/>
              </a:lnSpc>
              <a:buFont typeface="Arial"/>
              <a:buChar char="⚬"/>
            </a:pPr>
            <a:r>
              <a:rPr lang="en-US" sz="35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Y-axis gantry</a:t>
            </a:r>
          </a:p>
          <a:p>
            <a:pPr algn="l" marL="806142" indent="-268714" lvl="2">
              <a:lnSpc>
                <a:spcPts val="4936"/>
              </a:lnSpc>
              <a:buFont typeface="Arial"/>
              <a:buChar char="⚬"/>
            </a:pPr>
            <a:r>
              <a:rPr lang="en-US" sz="35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Z-axis actuator</a:t>
            </a:r>
          </a:p>
          <a:p>
            <a:pPr algn="l" marL="806142" indent="-268714" lvl="2">
              <a:lnSpc>
                <a:spcPts val="4936"/>
              </a:lnSpc>
              <a:buFont typeface="Arial"/>
              <a:buChar char="⚬"/>
            </a:pPr>
            <a:r>
              <a:rPr lang="en-US" sz="35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End-effector (gripper)</a:t>
            </a:r>
          </a:p>
          <a:p>
            <a:pPr algn="l" marL="806142" indent="-268714" lvl="2">
              <a:lnSpc>
                <a:spcPts val="493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X/Y STAGE: COREXY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BOTH MOTORS OFF THE MOVING BEAM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3986" y="2780986"/>
            <a:ext cx="5249685" cy="5639438"/>
            <a:chOff x="0" y="0"/>
            <a:chExt cx="6999580" cy="7519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9478" cy="7519162"/>
            </a:xfrm>
            <a:custGeom>
              <a:avLst/>
              <a:gdLst/>
              <a:ahLst/>
              <a:cxnLst/>
              <a:rect r="r" b="b" t="t" l="l"/>
              <a:pathLst>
                <a:path h="7519162" w="6999478">
                  <a:moveTo>
                    <a:pt x="0" y="317881"/>
                  </a:moveTo>
                  <a:cubicBezTo>
                    <a:pt x="0" y="142367"/>
                    <a:pt x="142367" y="0"/>
                    <a:pt x="317881" y="0"/>
                  </a:cubicBezTo>
                  <a:lnTo>
                    <a:pt x="6681597" y="0"/>
                  </a:lnTo>
                  <a:cubicBezTo>
                    <a:pt x="6857238" y="0"/>
                    <a:pt x="6999478" y="142367"/>
                    <a:pt x="6999478" y="317881"/>
                  </a:cubicBezTo>
                  <a:lnTo>
                    <a:pt x="6999478" y="7201281"/>
                  </a:lnTo>
                  <a:cubicBezTo>
                    <a:pt x="6999478" y="7376922"/>
                    <a:pt x="6857111" y="7519162"/>
                    <a:pt x="6681597" y="7519162"/>
                  </a:cubicBezTo>
                  <a:lnTo>
                    <a:pt x="317881" y="7519162"/>
                  </a:lnTo>
                  <a:cubicBezTo>
                    <a:pt x="142367" y="7519289"/>
                    <a:pt x="0" y="7376922"/>
                    <a:pt x="0" y="72012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923098" y="2990088"/>
            <a:ext cx="4831471" cy="5221224"/>
            <a:chOff x="0" y="0"/>
            <a:chExt cx="6441961" cy="6961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41948" cy="6961632"/>
            </a:xfrm>
            <a:custGeom>
              <a:avLst/>
              <a:gdLst/>
              <a:ahLst/>
              <a:cxnLst/>
              <a:rect r="r" b="b" t="t" l="l"/>
              <a:pathLst>
                <a:path h="6961632" w="6441948">
                  <a:moveTo>
                    <a:pt x="0" y="0"/>
                  </a:moveTo>
                  <a:lnTo>
                    <a:pt x="6441948" y="0"/>
                  </a:lnTo>
                  <a:lnTo>
                    <a:pt x="6441948" y="6961632"/>
                  </a:lnTo>
                  <a:lnTo>
                    <a:pt x="0" y="6961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128" y="8502777"/>
            <a:ext cx="6629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Verified on the machine by watching the shafts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8968740"/>
            <a:ext cx="6629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4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CoreXY skeleton and limit-switch homing after Greg06, “Automated Chessboard”, Instructables 2022. Z, the claw, the feeder, the camera and all three controllers were built on top of it.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75320" y="2878455"/>
            <a:ext cx="8732520" cy="33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5267" indent="-117634" lvl="1">
              <a:lnSpc>
                <a:spcPts val="2631"/>
              </a:lnSpc>
              <a:buFont typeface="Arial"/>
              <a:buChar char="•"/>
            </a:pPr>
            <a:r>
              <a:rPr lang="en-US" b="true" sz="195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Same sense › </a:t>
            </a: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carriage walks along X. Opposed senses › it walks along Y.</a:t>
            </a:r>
          </a:p>
          <a:p>
            <a:pPr algn="l" marL="235267" indent="-117634" lvl="1">
              <a:lnSpc>
                <a:spcPts val="2631"/>
              </a:lnSpc>
              <a:buFont typeface="Arial"/>
              <a:buChar char="•"/>
            </a:pPr>
            <a:r>
              <a:rPr lang="en-US" b="true" sz="195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Two NEMA17 motors </a:t>
            </a: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are fixed to the frame and drive one continuous GT2 belt path, so the beam stays light and the envelope stays large.</a:t>
            </a:r>
          </a:p>
          <a:p>
            <a:pPr algn="l" marL="235267" indent="-117634" lvl="1">
              <a:lnSpc>
                <a:spcPts val="2631"/>
              </a:lnSpc>
              <a:buFont typeface="Arial"/>
              <a:buChar char="•"/>
            </a:pPr>
            <a:r>
              <a:rPr lang="en-US" b="true" sz="195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Guidance </a:t>
            </a:r>
            <a:r>
              <a:rPr lang="en-US" sz="19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is eight castor wheels on 3D-printed carriages running on the aluminium profile.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67386" y="6164266"/>
            <a:ext cx="4222118" cy="1314326"/>
            <a:chOff x="0" y="0"/>
            <a:chExt cx="5629491" cy="1752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29402" cy="1752346"/>
            </a:xfrm>
            <a:custGeom>
              <a:avLst/>
              <a:gdLst/>
              <a:ahLst/>
              <a:cxnLst/>
              <a:rect r="r" b="b" t="t" l="l"/>
              <a:pathLst>
                <a:path h="1752346" w="5629402">
                  <a:moveTo>
                    <a:pt x="0" y="320802"/>
                  </a:moveTo>
                  <a:cubicBezTo>
                    <a:pt x="0" y="143637"/>
                    <a:pt x="143637" y="0"/>
                    <a:pt x="320802" y="0"/>
                  </a:cubicBezTo>
                  <a:lnTo>
                    <a:pt x="5308600" y="0"/>
                  </a:lnTo>
                  <a:cubicBezTo>
                    <a:pt x="5485765" y="0"/>
                    <a:pt x="5629402" y="143637"/>
                    <a:pt x="5629402" y="320802"/>
                  </a:cubicBezTo>
                  <a:lnTo>
                    <a:pt x="5629402" y="1431544"/>
                  </a:lnTo>
                  <a:cubicBezTo>
                    <a:pt x="5629402" y="1608709"/>
                    <a:pt x="5485765" y="1752346"/>
                    <a:pt x="5308600" y="1752346"/>
                  </a:cubicBezTo>
                  <a:lnTo>
                    <a:pt x="320802" y="1752346"/>
                  </a:lnTo>
                  <a:cubicBezTo>
                    <a:pt x="143637" y="1752473"/>
                    <a:pt x="0" y="1608836"/>
                    <a:pt x="0" y="143154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8549640" y="6355080"/>
            <a:ext cx="36576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22.8 cm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49640" y="6884670"/>
            <a:ext cx="3657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X holder travel · 4,550 steps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793666" y="6164266"/>
            <a:ext cx="4222118" cy="1314326"/>
            <a:chOff x="0" y="0"/>
            <a:chExt cx="5629491" cy="17524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29402" cy="1752346"/>
            </a:xfrm>
            <a:custGeom>
              <a:avLst/>
              <a:gdLst/>
              <a:ahLst/>
              <a:cxnLst/>
              <a:rect r="r" b="b" t="t" l="l"/>
              <a:pathLst>
                <a:path h="1752346" w="5629402">
                  <a:moveTo>
                    <a:pt x="0" y="320802"/>
                  </a:moveTo>
                  <a:cubicBezTo>
                    <a:pt x="0" y="143637"/>
                    <a:pt x="143637" y="0"/>
                    <a:pt x="320802" y="0"/>
                  </a:cubicBezTo>
                  <a:lnTo>
                    <a:pt x="5308600" y="0"/>
                  </a:lnTo>
                  <a:cubicBezTo>
                    <a:pt x="5485765" y="0"/>
                    <a:pt x="5629402" y="143637"/>
                    <a:pt x="5629402" y="320802"/>
                  </a:cubicBezTo>
                  <a:lnTo>
                    <a:pt x="5629402" y="1431544"/>
                  </a:lnTo>
                  <a:cubicBezTo>
                    <a:pt x="5629402" y="1608709"/>
                    <a:pt x="5485765" y="1752346"/>
                    <a:pt x="5308600" y="1752346"/>
                  </a:cubicBezTo>
                  <a:lnTo>
                    <a:pt x="320802" y="1752346"/>
                  </a:lnTo>
                  <a:cubicBezTo>
                    <a:pt x="143637" y="1752473"/>
                    <a:pt x="0" y="1608836"/>
                    <a:pt x="0" y="143154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075920" y="6355080"/>
            <a:ext cx="36576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38.0 cm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5920" y="6884670"/>
            <a:ext cx="3657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Y holder travel · 7,600 steps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67386" y="7645594"/>
            <a:ext cx="4222118" cy="1314326"/>
            <a:chOff x="0" y="0"/>
            <a:chExt cx="5629491" cy="17524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29402" cy="1752346"/>
            </a:xfrm>
            <a:custGeom>
              <a:avLst/>
              <a:gdLst/>
              <a:ahLst/>
              <a:cxnLst/>
              <a:rect r="r" b="b" t="t" l="l"/>
              <a:pathLst>
                <a:path h="1752346" w="5629402">
                  <a:moveTo>
                    <a:pt x="0" y="320802"/>
                  </a:moveTo>
                  <a:cubicBezTo>
                    <a:pt x="0" y="143637"/>
                    <a:pt x="143637" y="0"/>
                    <a:pt x="320802" y="0"/>
                  </a:cubicBezTo>
                  <a:lnTo>
                    <a:pt x="5308600" y="0"/>
                  </a:lnTo>
                  <a:cubicBezTo>
                    <a:pt x="5485765" y="0"/>
                    <a:pt x="5629402" y="143637"/>
                    <a:pt x="5629402" y="320802"/>
                  </a:cubicBezTo>
                  <a:lnTo>
                    <a:pt x="5629402" y="1431544"/>
                  </a:lnTo>
                  <a:cubicBezTo>
                    <a:pt x="5629402" y="1608709"/>
                    <a:pt x="5485765" y="1752346"/>
                    <a:pt x="5308600" y="1752346"/>
                  </a:cubicBezTo>
                  <a:lnTo>
                    <a:pt x="320802" y="1752346"/>
                  </a:lnTo>
                  <a:cubicBezTo>
                    <a:pt x="143637" y="1752473"/>
                    <a:pt x="0" y="1608836"/>
                    <a:pt x="0" y="143154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549640" y="7836408"/>
            <a:ext cx="36576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200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49640" y="8365998"/>
            <a:ext cx="3657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steps per cm (X 199.6, Y 200.0)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793666" y="7645594"/>
            <a:ext cx="4222118" cy="1314326"/>
            <a:chOff x="0" y="0"/>
            <a:chExt cx="5629491" cy="17524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29402" cy="1752346"/>
            </a:xfrm>
            <a:custGeom>
              <a:avLst/>
              <a:gdLst/>
              <a:ahLst/>
              <a:cxnLst/>
              <a:rect r="r" b="b" t="t" l="l"/>
              <a:pathLst>
                <a:path h="1752346" w="5629402">
                  <a:moveTo>
                    <a:pt x="0" y="320802"/>
                  </a:moveTo>
                  <a:cubicBezTo>
                    <a:pt x="0" y="143637"/>
                    <a:pt x="143637" y="0"/>
                    <a:pt x="320802" y="0"/>
                  </a:cubicBezTo>
                  <a:lnTo>
                    <a:pt x="5308600" y="0"/>
                  </a:lnTo>
                  <a:cubicBezTo>
                    <a:pt x="5485765" y="0"/>
                    <a:pt x="5629402" y="143637"/>
                    <a:pt x="5629402" y="320802"/>
                  </a:cubicBezTo>
                  <a:lnTo>
                    <a:pt x="5629402" y="1431544"/>
                  </a:lnTo>
                  <a:cubicBezTo>
                    <a:pt x="5629402" y="1608709"/>
                    <a:pt x="5485765" y="1752346"/>
                    <a:pt x="5308600" y="1752346"/>
                  </a:cubicBezTo>
                  <a:lnTo>
                    <a:pt x="320802" y="1752346"/>
                  </a:lnTo>
                  <a:cubicBezTo>
                    <a:pt x="143637" y="1752473"/>
                    <a:pt x="0" y="1608836"/>
                    <a:pt x="0" y="143154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075920" y="7836408"/>
            <a:ext cx="36576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75920" y="8365998"/>
            <a:ext cx="36576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limit switches, all NC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75320" y="9069705"/>
            <a:ext cx="87325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4"/>
              </a:lnSpc>
            </a:pPr>
            <a:r>
              <a:rPr lang="en-US" sz="1749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Homing drives each axis into its own switch; the corner where both are pressed is machine position (0, 0).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Z AXIS AND END EFFECTOR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LIFT, GRIP, AND A QUARTER TURN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87729" y="2780986"/>
            <a:ext cx="6883765" cy="5227958"/>
            <a:chOff x="0" y="0"/>
            <a:chExt cx="9178354" cy="69706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78290" cy="6970522"/>
            </a:xfrm>
            <a:custGeom>
              <a:avLst/>
              <a:gdLst/>
              <a:ahLst/>
              <a:cxnLst/>
              <a:rect r="r" b="b" t="t" l="l"/>
              <a:pathLst>
                <a:path h="6970522" w="9178290">
                  <a:moveTo>
                    <a:pt x="0" y="317881"/>
                  </a:moveTo>
                  <a:cubicBezTo>
                    <a:pt x="0" y="142367"/>
                    <a:pt x="142367" y="0"/>
                    <a:pt x="317881" y="0"/>
                  </a:cubicBezTo>
                  <a:lnTo>
                    <a:pt x="8860409" y="0"/>
                  </a:lnTo>
                  <a:cubicBezTo>
                    <a:pt x="9036050" y="0"/>
                    <a:pt x="9178290" y="142367"/>
                    <a:pt x="9178290" y="317881"/>
                  </a:cubicBezTo>
                  <a:lnTo>
                    <a:pt x="9178290" y="6652641"/>
                  </a:lnTo>
                  <a:cubicBezTo>
                    <a:pt x="9178290" y="6828282"/>
                    <a:pt x="9035923" y="6970522"/>
                    <a:pt x="8860409" y="6970522"/>
                  </a:cubicBezTo>
                  <a:lnTo>
                    <a:pt x="317881" y="6970522"/>
                  </a:lnTo>
                  <a:cubicBezTo>
                    <a:pt x="142367" y="6970649"/>
                    <a:pt x="0" y="6828282"/>
                    <a:pt x="0" y="665264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696841" y="2990088"/>
            <a:ext cx="6465560" cy="4809744"/>
            <a:chOff x="0" y="0"/>
            <a:chExt cx="8620747" cy="64129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20760" cy="6412992"/>
            </a:xfrm>
            <a:custGeom>
              <a:avLst/>
              <a:gdLst/>
              <a:ahLst/>
              <a:cxnLst/>
              <a:rect r="r" b="b" t="t" l="l"/>
              <a:pathLst>
                <a:path h="6412992" w="8620760">
                  <a:moveTo>
                    <a:pt x="0" y="0"/>
                  </a:moveTo>
                  <a:lnTo>
                    <a:pt x="8620760" y="0"/>
                  </a:lnTo>
                  <a:lnTo>
                    <a:pt x="8620760" y="6412992"/>
                  </a:lnTo>
                  <a:lnTo>
                    <a:pt x="0" y="641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95360" y="8091297"/>
            <a:ext cx="8668512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3D-printed two-jaw claw — the reference design's electromagnet is no solution for wooden blocks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2861310"/>
            <a:ext cx="72237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Z axis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128" y="3336036"/>
            <a:ext cx="722376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One NEMA17 on the moving carriage, on the 15 mm linear rail. 26.5 cm of travel, 1,350 steps.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4128" y="4434078"/>
            <a:ext cx="72237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Both ends are switches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128" y="4908804"/>
            <a:ext cx="722376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Every build re-zeroes Z on the bottom switch and carries at the top. Neither end is a remembered number.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128" y="6006846"/>
            <a:ext cx="72237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claw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128" y="6481572"/>
            <a:ext cx="722376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One servo, two positions: OPEN 0°, CLOSE 52°, on the block's 2.2 cm face. No sensor at all — hence a fixed 600 ms settle.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128" y="7579614"/>
            <a:ext cx="72237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Rotation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128" y="8054340"/>
            <a:ext cx="722376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28BYJ-48 through a ULN2003 turns the claw 512 of 2,048 steps at 10 rpm — the second block orientation.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4128" y="8915400"/>
            <a:ext cx="16239744" cy="1005840"/>
            <a:chOff x="0" y="0"/>
            <a:chExt cx="21652992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652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652992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21336000" y="0"/>
                  </a:lnTo>
                  <a:cubicBezTo>
                    <a:pt x="21511006" y="0"/>
                    <a:pt x="21652992" y="141859"/>
                    <a:pt x="21652992" y="316992"/>
                  </a:cubicBezTo>
                  <a:lnTo>
                    <a:pt x="21652992" y="1024128"/>
                  </a:lnTo>
                  <a:cubicBezTo>
                    <a:pt x="21652992" y="1199134"/>
                    <a:pt x="21511133" y="1341120"/>
                    <a:pt x="21336000" y="1341120"/>
                  </a:cubicBezTo>
                  <a:lnTo>
                    <a:pt x="316992" y="1341120"/>
                  </a:lnTo>
                  <a:cubicBezTo>
                    <a:pt x="141859" y="1341120"/>
                    <a:pt x="0" y="1199261"/>
                    <a:pt x="0" y="1024128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27048" y="9105900"/>
            <a:ext cx="1527048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grip centre sits (−0.3, +0.6) cm off the rotation axis, so a 90° turn swings the block round that axis. That swing is corrected as a per-rotation tool offset — not as a grid error.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FEEDER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DOSE EXACTLY ONE BLOCK — AND PROVE IT TWICE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3101026"/>
            <a:ext cx="1890398" cy="3627758"/>
            <a:chOff x="0" y="0"/>
            <a:chExt cx="2520531" cy="48370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13916" y="3401568"/>
            <a:ext cx="694944" cy="694944"/>
            <a:chOff x="0" y="0"/>
            <a:chExt cx="926592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139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04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Close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04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container shut</a:t>
            </a:r>
          </a:p>
        </p:txBody>
      </p:sp>
      <p:sp>
        <p:nvSpPr>
          <p:cNvPr name="AutoShape 13" id="13"/>
          <p:cNvSpPr/>
          <p:nvPr/>
        </p:nvSpPr>
        <p:spPr>
          <a:xfrm rot="461760">
            <a:off x="2904734" y="4882515"/>
            <a:ext cx="170698" cy="0"/>
          </a:xfrm>
          <a:prstGeom prst="line">
            <a:avLst/>
          </a:prstGeom>
          <a:ln cap="rnd" w="19050">
            <a:solidFill>
              <a:srgbClr val="B8BE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073594" y="3101026"/>
            <a:ext cx="1890398" cy="3627758"/>
            <a:chOff x="0" y="0"/>
            <a:chExt cx="2520531" cy="48370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671316" y="3401568"/>
            <a:ext cx="694944" cy="694944"/>
            <a:chOff x="0" y="0"/>
            <a:chExt cx="926592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6713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278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Open in two stages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278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20° › 90° › 160°</a:t>
            </a:r>
          </a:p>
        </p:txBody>
      </p:sp>
      <p:sp>
        <p:nvSpPr>
          <p:cNvPr name="AutoShape 21" id="21"/>
          <p:cNvSpPr/>
          <p:nvPr/>
        </p:nvSpPr>
        <p:spPr>
          <a:xfrm rot="461760">
            <a:off x="4962134" y="4882515"/>
            <a:ext cx="170698" cy="0"/>
          </a:xfrm>
          <a:prstGeom prst="line">
            <a:avLst/>
          </a:prstGeom>
          <a:ln cap="rnd" w="19050">
            <a:solidFill>
              <a:srgbClr val="B8BE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5130994" y="3101026"/>
            <a:ext cx="1890398" cy="3627758"/>
            <a:chOff x="0" y="0"/>
            <a:chExt cx="2520531" cy="48370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EEF1F8"/>
            </a:solidFill>
            <a:ln w="15875" cap="sq">
              <a:solidFill>
                <a:srgbClr val="1E40A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728716" y="3401568"/>
            <a:ext cx="694944" cy="694944"/>
            <a:chOff x="0" y="0"/>
            <a:chExt cx="926592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7287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852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Wait for EXIT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852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 block left the hopper · 10 s</a:t>
            </a:r>
          </a:p>
        </p:txBody>
      </p:sp>
      <p:sp>
        <p:nvSpPr>
          <p:cNvPr name="AutoShape 29" id="29"/>
          <p:cNvSpPr/>
          <p:nvPr/>
        </p:nvSpPr>
        <p:spPr>
          <a:xfrm rot="461760">
            <a:off x="7019534" y="4882515"/>
            <a:ext cx="170698" cy="0"/>
          </a:xfrm>
          <a:prstGeom prst="line">
            <a:avLst/>
          </a:prstGeom>
          <a:ln cap="rnd" w="19050">
            <a:solidFill>
              <a:srgbClr val="1E40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7188394" y="3101026"/>
            <a:ext cx="1890398" cy="3627758"/>
            <a:chOff x="0" y="0"/>
            <a:chExt cx="2520531" cy="48370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786116" y="3401568"/>
            <a:ext cx="694944" cy="694944"/>
            <a:chOff x="0" y="0"/>
            <a:chExt cx="926592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7861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426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Shut the gate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426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before the belt starts</a:t>
            </a:r>
          </a:p>
        </p:txBody>
      </p:sp>
      <p:sp>
        <p:nvSpPr>
          <p:cNvPr name="AutoShape 37" id="37"/>
          <p:cNvSpPr/>
          <p:nvPr/>
        </p:nvSpPr>
        <p:spPr>
          <a:xfrm rot="461760">
            <a:off x="9076934" y="4882515"/>
            <a:ext cx="170698" cy="0"/>
          </a:xfrm>
          <a:prstGeom prst="line">
            <a:avLst/>
          </a:prstGeom>
          <a:ln cap="rnd" w="19050">
            <a:solidFill>
              <a:srgbClr val="B8BE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9245794" y="3101026"/>
            <a:ext cx="1890398" cy="3627758"/>
            <a:chOff x="0" y="0"/>
            <a:chExt cx="2520531" cy="48370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43516" y="3401568"/>
            <a:ext cx="694944" cy="694944"/>
            <a:chOff x="0" y="0"/>
            <a:chExt cx="926592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8435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000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Run the belt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000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150 steps/s</a:t>
            </a:r>
          </a:p>
        </p:txBody>
      </p:sp>
      <p:sp>
        <p:nvSpPr>
          <p:cNvPr name="AutoShape 45" id="45"/>
          <p:cNvSpPr/>
          <p:nvPr/>
        </p:nvSpPr>
        <p:spPr>
          <a:xfrm rot="461760">
            <a:off x="11134334" y="4882515"/>
            <a:ext cx="170698" cy="0"/>
          </a:xfrm>
          <a:prstGeom prst="line">
            <a:avLst/>
          </a:prstGeom>
          <a:ln cap="rnd" w="19050">
            <a:solidFill>
              <a:srgbClr val="B8BE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6" id="46"/>
          <p:cNvGrpSpPr/>
          <p:nvPr/>
        </p:nvGrpSpPr>
        <p:grpSpPr>
          <a:xfrm rot="0">
            <a:off x="11303194" y="3101026"/>
            <a:ext cx="1890398" cy="3627758"/>
            <a:chOff x="0" y="0"/>
            <a:chExt cx="2520531" cy="48370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EEF1F8"/>
            </a:solidFill>
            <a:ln w="15875" cap="sq">
              <a:solidFill>
                <a:srgbClr val="1E40A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900916" y="3401568"/>
            <a:ext cx="694944" cy="694944"/>
            <a:chOff x="0" y="0"/>
            <a:chExt cx="926592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9009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574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Wait for STAGE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4574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 block arrived · 15 s</a:t>
            </a:r>
          </a:p>
        </p:txBody>
      </p:sp>
      <p:sp>
        <p:nvSpPr>
          <p:cNvPr name="AutoShape 53" id="53"/>
          <p:cNvSpPr/>
          <p:nvPr/>
        </p:nvSpPr>
        <p:spPr>
          <a:xfrm rot="461760">
            <a:off x="13191734" y="4882515"/>
            <a:ext cx="170698" cy="0"/>
          </a:xfrm>
          <a:prstGeom prst="line">
            <a:avLst/>
          </a:prstGeom>
          <a:ln cap="rnd" w="19050">
            <a:solidFill>
              <a:srgbClr val="1E40A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13360594" y="3101026"/>
            <a:ext cx="1890398" cy="3627758"/>
            <a:chOff x="0" y="0"/>
            <a:chExt cx="2520531" cy="48370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958316" y="3401568"/>
            <a:ext cx="694944" cy="694944"/>
            <a:chOff x="0" y="0"/>
            <a:chExt cx="926592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9583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148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Align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148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servo 90° › 120°</a:t>
            </a:r>
          </a:p>
        </p:txBody>
      </p:sp>
      <p:sp>
        <p:nvSpPr>
          <p:cNvPr name="AutoShape 61" id="61"/>
          <p:cNvSpPr/>
          <p:nvPr/>
        </p:nvSpPr>
        <p:spPr>
          <a:xfrm rot="461760">
            <a:off x="15249134" y="4882515"/>
            <a:ext cx="170698" cy="0"/>
          </a:xfrm>
          <a:prstGeom prst="line">
            <a:avLst/>
          </a:prstGeom>
          <a:ln cap="rnd" w="19050">
            <a:solidFill>
              <a:srgbClr val="B8BEC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15417994" y="3101026"/>
            <a:ext cx="1890398" cy="3627758"/>
            <a:chOff x="0" y="0"/>
            <a:chExt cx="2520531" cy="48370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20569" cy="4837049"/>
            </a:xfrm>
            <a:custGeom>
              <a:avLst/>
              <a:gdLst/>
              <a:ahLst/>
              <a:cxnLst/>
              <a:rect r="r" b="b" t="t" l="l"/>
              <a:pathLst>
                <a:path h="4837049" w="2520569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2200910" y="0"/>
                  </a:lnTo>
                  <a:cubicBezTo>
                    <a:pt x="2377440" y="0"/>
                    <a:pt x="2520569" y="143129"/>
                    <a:pt x="2520569" y="319659"/>
                  </a:cubicBezTo>
                  <a:lnTo>
                    <a:pt x="2520569" y="4517390"/>
                  </a:lnTo>
                  <a:cubicBezTo>
                    <a:pt x="2520569" y="4693920"/>
                    <a:pt x="2377440" y="4837049"/>
                    <a:pt x="2200910" y="4837049"/>
                  </a:cubicBezTo>
                  <a:lnTo>
                    <a:pt x="319659" y="4837049"/>
                  </a:lnTo>
                  <a:cubicBezTo>
                    <a:pt x="143129" y="4837049"/>
                    <a:pt x="0" y="4693920"/>
                    <a:pt x="0" y="4517390"/>
                  </a:cubicBezTo>
                  <a:close/>
                </a:path>
              </a:pathLst>
            </a:custGeom>
            <a:solidFill>
              <a:srgbClr val="EEF1F8"/>
            </a:solidFill>
            <a:ln w="15875" cap="sq">
              <a:solidFill>
                <a:srgbClr val="1E40A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6015716" y="3401568"/>
            <a:ext cx="694944" cy="694944"/>
            <a:chOff x="0" y="0"/>
            <a:chExt cx="926592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6015716" y="3570732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572232" y="4305300"/>
            <a:ext cx="1581912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Re-read STAGE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572232" y="5503545"/>
            <a:ext cx="1581912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it is still there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024128" y="7269480"/>
            <a:ext cx="16239744" cy="1207008"/>
            <a:chOff x="0" y="0"/>
            <a:chExt cx="21652992" cy="16093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652992" cy="1609344"/>
            </a:xfrm>
            <a:custGeom>
              <a:avLst/>
              <a:gdLst/>
              <a:ahLst/>
              <a:cxnLst/>
              <a:rect r="r" b="b" t="t" l="l"/>
              <a:pathLst>
                <a:path h="1609344" w="2165299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1311615" y="0"/>
                  </a:lnTo>
                  <a:cubicBezTo>
                    <a:pt x="21500210" y="0"/>
                    <a:pt x="21652992" y="152781"/>
                    <a:pt x="21652992" y="341376"/>
                  </a:cubicBezTo>
                  <a:lnTo>
                    <a:pt x="21652992" y="1267968"/>
                  </a:lnTo>
                  <a:cubicBezTo>
                    <a:pt x="21652992" y="1456563"/>
                    <a:pt x="21500210" y="1609344"/>
                    <a:pt x="21311615" y="1609344"/>
                  </a:cubicBezTo>
                  <a:lnTo>
                    <a:pt x="341376" y="1609344"/>
                  </a:lnTo>
                  <a:cubicBezTo>
                    <a:pt x="152781" y="1609344"/>
                    <a:pt x="0" y="1456563"/>
                    <a:pt x="0" y="12679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527048" y="7496556"/>
            <a:ext cx="152704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Two ends of the feed path, three measurements — and nothing after them is assumed.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4128" y="8804910"/>
            <a:ext cx="5120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Refuses to double-load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24128" y="9261729"/>
            <a:ext cx="512064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feed request arriving while the stage sensor already sees a block is refused with stage_occupied — before anything opens.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528816" y="8804910"/>
            <a:ext cx="5120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A gate becomes a doser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528816" y="9261729"/>
            <a:ext cx="512064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container shuts the instant EXIT fires, before the belt starts, so a second block cannot follow the first out.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033504" y="8804910"/>
            <a:ext cx="5120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0"/>
              </a:lnSpc>
            </a:pPr>
            <a:r>
              <a:rPr lang="en-US" sz="18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Never a success it cannot see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033504" y="9261729"/>
            <a:ext cx="512064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If the block has gone after the aligner moves, the belt resumes instead of the feeder reporting staged.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TWO GRIDS, NOT ONE GRID WITH A FLAG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ENVELOPE, TWO LATTICES, ONE FEEDER CELL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33298" y="3432991"/>
            <a:ext cx="2640854" cy="4392120"/>
            <a:chOff x="0" y="0"/>
            <a:chExt cx="3521138" cy="585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1202" cy="5856097"/>
            </a:xfrm>
            <a:custGeom>
              <a:avLst/>
              <a:gdLst/>
              <a:ahLst/>
              <a:cxnLst/>
              <a:rect r="r" b="b" t="t" l="l"/>
              <a:pathLst>
                <a:path h="5856097" w="3521202">
                  <a:moveTo>
                    <a:pt x="0" y="0"/>
                  </a:moveTo>
                  <a:lnTo>
                    <a:pt x="3521202" y="0"/>
                  </a:lnTo>
                  <a:lnTo>
                    <a:pt x="3521202" y="5856097"/>
                  </a:lnTo>
                  <a:lnTo>
                    <a:pt x="0" y="5856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3384" t="0" r="-163382" b="-1"/>
              </a:stretch>
            </a:blipFill>
            <a:ln w="13970" cap="sq">
              <a:solidFill>
                <a:srgbClr val="9AA3B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113540" y="7472477"/>
            <a:ext cx="253470" cy="691286"/>
            <a:chOff x="0" y="0"/>
            <a:chExt cx="337960" cy="921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13540" y="6596844"/>
            <a:ext cx="253470" cy="691286"/>
            <a:chOff x="0" y="0"/>
            <a:chExt cx="337960" cy="921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13540" y="5721220"/>
            <a:ext cx="253470" cy="691286"/>
            <a:chOff x="0" y="0"/>
            <a:chExt cx="337960" cy="921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13540" y="4845587"/>
            <a:ext cx="253470" cy="691286"/>
            <a:chOff x="0" y="0"/>
            <a:chExt cx="337960" cy="9217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13540" y="3969963"/>
            <a:ext cx="253470" cy="691286"/>
            <a:chOff x="0" y="0"/>
            <a:chExt cx="337960" cy="921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13540" y="3094330"/>
            <a:ext cx="253470" cy="691286"/>
            <a:chOff x="0" y="0"/>
            <a:chExt cx="337960" cy="9217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51357" y="7472477"/>
            <a:ext cx="253470" cy="691286"/>
            <a:chOff x="0" y="0"/>
            <a:chExt cx="337960" cy="9217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551357" y="6596844"/>
            <a:ext cx="253470" cy="691286"/>
            <a:chOff x="0" y="0"/>
            <a:chExt cx="337960" cy="9217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51357" y="5721220"/>
            <a:ext cx="253470" cy="691286"/>
            <a:chOff x="0" y="0"/>
            <a:chExt cx="337960" cy="9217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551357" y="4845587"/>
            <a:ext cx="253470" cy="691286"/>
            <a:chOff x="0" y="0"/>
            <a:chExt cx="337960" cy="9217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551357" y="3969963"/>
            <a:ext cx="253470" cy="691286"/>
            <a:chOff x="0" y="0"/>
            <a:chExt cx="337960" cy="9217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551357" y="3094330"/>
            <a:ext cx="253470" cy="691286"/>
            <a:chOff x="0" y="0"/>
            <a:chExt cx="337960" cy="9217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989174" y="7472477"/>
            <a:ext cx="253470" cy="691286"/>
            <a:chOff x="0" y="0"/>
            <a:chExt cx="337960" cy="9217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989174" y="6596844"/>
            <a:ext cx="253470" cy="691286"/>
            <a:chOff x="0" y="0"/>
            <a:chExt cx="337960" cy="9217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989174" y="5721220"/>
            <a:ext cx="253470" cy="691286"/>
            <a:chOff x="0" y="0"/>
            <a:chExt cx="337960" cy="9217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989174" y="4845587"/>
            <a:ext cx="253470" cy="691286"/>
            <a:chOff x="0" y="0"/>
            <a:chExt cx="337960" cy="9217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989174" y="3969963"/>
            <a:ext cx="253470" cy="691286"/>
            <a:chOff x="0" y="0"/>
            <a:chExt cx="337960" cy="9217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989174" y="3094330"/>
            <a:ext cx="253470" cy="691286"/>
            <a:chOff x="0" y="0"/>
            <a:chExt cx="337960" cy="9217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426990" y="7472477"/>
            <a:ext cx="253470" cy="691286"/>
            <a:chOff x="0" y="0"/>
            <a:chExt cx="337960" cy="9217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426990" y="6596844"/>
            <a:ext cx="253470" cy="691286"/>
            <a:chOff x="0" y="0"/>
            <a:chExt cx="337960" cy="92171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426990" y="5721220"/>
            <a:ext cx="253470" cy="691286"/>
            <a:chOff x="0" y="0"/>
            <a:chExt cx="337960" cy="9217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426990" y="4845587"/>
            <a:ext cx="253470" cy="691286"/>
            <a:chOff x="0" y="0"/>
            <a:chExt cx="337960" cy="9217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426990" y="3969963"/>
            <a:ext cx="253470" cy="691286"/>
            <a:chOff x="0" y="0"/>
            <a:chExt cx="337960" cy="92171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426990" y="3094330"/>
            <a:ext cx="253470" cy="691286"/>
            <a:chOff x="0" y="0"/>
            <a:chExt cx="337960" cy="9217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864807" y="7472477"/>
            <a:ext cx="253470" cy="691286"/>
            <a:chOff x="0" y="0"/>
            <a:chExt cx="337960" cy="92171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864807" y="6596844"/>
            <a:ext cx="253470" cy="691286"/>
            <a:chOff x="0" y="0"/>
            <a:chExt cx="337960" cy="92171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864807" y="5721220"/>
            <a:ext cx="253470" cy="691286"/>
            <a:chOff x="0" y="0"/>
            <a:chExt cx="337960" cy="92171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864807" y="4845587"/>
            <a:ext cx="253470" cy="691286"/>
            <a:chOff x="0" y="0"/>
            <a:chExt cx="337960" cy="92171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864807" y="3969963"/>
            <a:ext cx="253470" cy="691286"/>
            <a:chOff x="0" y="0"/>
            <a:chExt cx="337960" cy="9217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864807" y="3094330"/>
            <a:ext cx="253470" cy="691286"/>
            <a:chOff x="0" y="0"/>
            <a:chExt cx="337960" cy="92171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302614" y="7472477"/>
            <a:ext cx="253470" cy="691286"/>
            <a:chOff x="0" y="0"/>
            <a:chExt cx="337960" cy="92171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302614" y="6596844"/>
            <a:ext cx="253470" cy="691286"/>
            <a:chOff x="0" y="0"/>
            <a:chExt cx="337960" cy="92171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302614" y="5721220"/>
            <a:ext cx="253470" cy="691286"/>
            <a:chOff x="0" y="0"/>
            <a:chExt cx="337960" cy="92171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302614" y="4845587"/>
            <a:ext cx="253470" cy="691286"/>
            <a:chOff x="0" y="0"/>
            <a:chExt cx="337960" cy="92171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302614" y="3969963"/>
            <a:ext cx="253470" cy="691286"/>
            <a:chOff x="0" y="0"/>
            <a:chExt cx="337960" cy="92171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302614" y="3094330"/>
            <a:ext cx="253470" cy="691286"/>
            <a:chOff x="0" y="0"/>
            <a:chExt cx="337960" cy="92171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740431" y="7472477"/>
            <a:ext cx="253470" cy="691286"/>
            <a:chOff x="0" y="0"/>
            <a:chExt cx="337960" cy="92171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40431" y="6596844"/>
            <a:ext cx="253470" cy="691286"/>
            <a:chOff x="0" y="0"/>
            <a:chExt cx="337960" cy="92171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40431" y="5721220"/>
            <a:ext cx="253470" cy="691286"/>
            <a:chOff x="0" y="0"/>
            <a:chExt cx="337960" cy="92171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740431" y="4845587"/>
            <a:ext cx="253470" cy="691286"/>
            <a:chOff x="0" y="0"/>
            <a:chExt cx="337960" cy="92171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40431" y="3969963"/>
            <a:ext cx="253470" cy="691286"/>
            <a:chOff x="0" y="0"/>
            <a:chExt cx="337960" cy="92171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4740431" y="3094330"/>
            <a:ext cx="253470" cy="691286"/>
            <a:chOff x="0" y="0"/>
            <a:chExt cx="337960" cy="92171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37947" cy="921766"/>
            </a:xfrm>
            <a:custGeom>
              <a:avLst/>
              <a:gdLst/>
              <a:ahLst/>
              <a:cxnLst/>
              <a:rect r="r" b="b" t="t" l="l"/>
              <a:pathLst>
                <a:path h="921766" w="337947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83083" y="0"/>
                  </a:lnTo>
                  <a:cubicBezTo>
                    <a:pt x="313436" y="0"/>
                    <a:pt x="337947" y="24511"/>
                    <a:pt x="337947" y="54864"/>
                  </a:cubicBezTo>
                  <a:lnTo>
                    <a:pt x="337947" y="866902"/>
                  </a:lnTo>
                  <a:cubicBezTo>
                    <a:pt x="337947" y="897255"/>
                    <a:pt x="313436" y="921766"/>
                    <a:pt x="283083" y="921766"/>
                  </a:cubicBezTo>
                  <a:lnTo>
                    <a:pt x="54864" y="921766"/>
                  </a:lnTo>
                  <a:cubicBezTo>
                    <a:pt x="24511" y="921766"/>
                    <a:pt x="0" y="897128"/>
                    <a:pt x="0" y="866902"/>
                  </a:cubicBezTo>
                  <a:close/>
                </a:path>
              </a:pathLst>
            </a:custGeom>
            <a:solidFill>
              <a:srgbClr val="C7D3F2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965960" y="8327898"/>
            <a:ext cx="43434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VERTICAL  ·  2.2 × 6.0 cm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965960" y="8795385"/>
            <a:ext cx="43434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7 × 6 addressable, 41 buildable</a:t>
            </a:r>
          </a:p>
          <a:p>
            <a:pPr algn="l">
              <a:lnSpc>
                <a:spcPts val="2092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pitch 3.8 × 7.6 cm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6530978" y="3870808"/>
            <a:ext cx="1765230" cy="3954304"/>
            <a:chOff x="0" y="0"/>
            <a:chExt cx="2353640" cy="527240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353691" cy="5272405"/>
            </a:xfrm>
            <a:custGeom>
              <a:avLst/>
              <a:gdLst/>
              <a:ahLst/>
              <a:cxnLst/>
              <a:rect r="r" b="b" t="t" l="l"/>
              <a:pathLst>
                <a:path h="5272405" w="2353691">
                  <a:moveTo>
                    <a:pt x="0" y="0"/>
                  </a:moveTo>
                  <a:lnTo>
                    <a:pt x="2353691" y="0"/>
                  </a:lnTo>
                  <a:lnTo>
                    <a:pt x="2353691" y="5272405"/>
                  </a:lnTo>
                  <a:lnTo>
                    <a:pt x="0" y="5272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7408" t="0" r="-237406" b="0"/>
              </a:stretch>
            </a:blipFill>
            <a:ln w="13970" cap="sq">
              <a:solidFill>
                <a:srgbClr val="9AA3B4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6192317" y="7691380"/>
            <a:ext cx="691286" cy="253470"/>
            <a:chOff x="0" y="0"/>
            <a:chExt cx="921715" cy="3379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192317" y="7253573"/>
            <a:ext cx="691286" cy="253470"/>
            <a:chOff x="0" y="0"/>
            <a:chExt cx="921715" cy="337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192317" y="6815757"/>
            <a:ext cx="691286" cy="253470"/>
            <a:chOff x="0" y="0"/>
            <a:chExt cx="921715" cy="3379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192317" y="6377940"/>
            <a:ext cx="691286" cy="253470"/>
            <a:chOff x="0" y="0"/>
            <a:chExt cx="921715" cy="3379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192317" y="5940123"/>
            <a:ext cx="691286" cy="253470"/>
            <a:chOff x="0" y="0"/>
            <a:chExt cx="921715" cy="3379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192317" y="5502307"/>
            <a:ext cx="691286" cy="253470"/>
            <a:chOff x="0" y="0"/>
            <a:chExt cx="921715" cy="3379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6192317" y="5064500"/>
            <a:ext cx="691286" cy="253470"/>
            <a:chOff x="0" y="0"/>
            <a:chExt cx="921715" cy="3379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192317" y="4626683"/>
            <a:ext cx="691286" cy="253470"/>
            <a:chOff x="0" y="0"/>
            <a:chExt cx="921715" cy="337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6192317" y="4188866"/>
            <a:ext cx="691286" cy="253470"/>
            <a:chOff x="0" y="0"/>
            <a:chExt cx="921715" cy="3379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192317" y="3751050"/>
            <a:ext cx="691286" cy="253470"/>
            <a:chOff x="0" y="0"/>
            <a:chExt cx="921715" cy="3379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7067950" y="7691380"/>
            <a:ext cx="691286" cy="253470"/>
            <a:chOff x="0" y="0"/>
            <a:chExt cx="921715" cy="3379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7067950" y="7253573"/>
            <a:ext cx="691286" cy="253470"/>
            <a:chOff x="0" y="0"/>
            <a:chExt cx="921715" cy="3379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7067950" y="6815757"/>
            <a:ext cx="691286" cy="253470"/>
            <a:chOff x="0" y="0"/>
            <a:chExt cx="921715" cy="33796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7067950" y="6377940"/>
            <a:ext cx="691286" cy="253470"/>
            <a:chOff x="0" y="0"/>
            <a:chExt cx="921715" cy="3379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7067950" y="5940123"/>
            <a:ext cx="691286" cy="253470"/>
            <a:chOff x="0" y="0"/>
            <a:chExt cx="921715" cy="3379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7067950" y="5502307"/>
            <a:ext cx="691286" cy="253470"/>
            <a:chOff x="0" y="0"/>
            <a:chExt cx="921715" cy="3379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067950" y="5064500"/>
            <a:ext cx="691286" cy="253470"/>
            <a:chOff x="0" y="0"/>
            <a:chExt cx="921715" cy="3379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7067950" y="4626683"/>
            <a:ext cx="691286" cy="253470"/>
            <a:chOff x="0" y="0"/>
            <a:chExt cx="921715" cy="33796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7067950" y="4188866"/>
            <a:ext cx="691286" cy="253470"/>
            <a:chOff x="0" y="0"/>
            <a:chExt cx="921715" cy="33796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7067950" y="3751050"/>
            <a:ext cx="691286" cy="253470"/>
            <a:chOff x="0" y="0"/>
            <a:chExt cx="921715" cy="33796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7943574" y="7691380"/>
            <a:ext cx="691286" cy="253470"/>
            <a:chOff x="0" y="0"/>
            <a:chExt cx="921715" cy="33796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7943574" y="7253573"/>
            <a:ext cx="691286" cy="253470"/>
            <a:chOff x="0" y="0"/>
            <a:chExt cx="921715" cy="3379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7943574" y="6815757"/>
            <a:ext cx="691286" cy="253470"/>
            <a:chOff x="0" y="0"/>
            <a:chExt cx="921715" cy="33796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7943574" y="6377940"/>
            <a:ext cx="691286" cy="253470"/>
            <a:chOff x="0" y="0"/>
            <a:chExt cx="921715" cy="33796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7943574" y="5940123"/>
            <a:ext cx="691286" cy="253470"/>
            <a:chOff x="0" y="0"/>
            <a:chExt cx="921715" cy="33796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7943574" y="5502307"/>
            <a:ext cx="691286" cy="253470"/>
            <a:chOff x="0" y="0"/>
            <a:chExt cx="921715" cy="3379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7943574" y="5064500"/>
            <a:ext cx="691286" cy="253470"/>
            <a:chOff x="0" y="0"/>
            <a:chExt cx="921715" cy="3379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7943574" y="4626683"/>
            <a:ext cx="691286" cy="253470"/>
            <a:chOff x="0" y="0"/>
            <a:chExt cx="921715" cy="33796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7943574" y="4188866"/>
            <a:ext cx="691286" cy="253470"/>
            <a:chOff x="0" y="0"/>
            <a:chExt cx="921715" cy="33796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7943574" y="3751050"/>
            <a:ext cx="691286" cy="253470"/>
            <a:chOff x="0" y="0"/>
            <a:chExt cx="921715" cy="33796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921766" cy="337947"/>
            </a:xfrm>
            <a:custGeom>
              <a:avLst/>
              <a:gdLst/>
              <a:ahLst/>
              <a:cxnLst/>
              <a:rect r="r" b="b" t="t" l="l"/>
              <a:pathLst>
                <a:path h="337947" w="92176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866902" y="0"/>
                  </a:lnTo>
                  <a:cubicBezTo>
                    <a:pt x="897255" y="0"/>
                    <a:pt x="921766" y="24511"/>
                    <a:pt x="921766" y="54864"/>
                  </a:cubicBezTo>
                  <a:lnTo>
                    <a:pt x="921766" y="283083"/>
                  </a:lnTo>
                  <a:cubicBezTo>
                    <a:pt x="921766" y="313436"/>
                    <a:pt x="897255" y="337947"/>
                    <a:pt x="866902" y="337947"/>
                  </a:cubicBezTo>
                  <a:lnTo>
                    <a:pt x="54864" y="337947"/>
                  </a:lnTo>
                  <a:cubicBezTo>
                    <a:pt x="24511" y="337947"/>
                    <a:pt x="0" y="313436"/>
                    <a:pt x="0" y="283083"/>
                  </a:cubicBezTo>
                  <a:close/>
                </a:path>
              </a:pathLst>
            </a:custGeom>
            <a:solidFill>
              <a:srgbClr val="F2D8C7"/>
            </a:solidFill>
          </p:spPr>
        </p:sp>
      </p:grpSp>
      <p:sp>
        <p:nvSpPr>
          <p:cNvPr name="TextBox 156" id="156"/>
          <p:cNvSpPr txBox="true"/>
          <p:nvPr/>
        </p:nvSpPr>
        <p:spPr>
          <a:xfrm rot="0">
            <a:off x="6263640" y="8327898"/>
            <a:ext cx="43434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HORIZONTAL  ·  6.0 × 2.2 cm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6263640" y="8795385"/>
            <a:ext cx="43434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3 × 10 addressable, 29 buildable</a:t>
            </a:r>
          </a:p>
          <a:p>
            <a:pPr algn="l">
              <a:lnSpc>
                <a:spcPts val="2092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pitch 7.6 × 3.8 cm</a:t>
            </a:r>
          </a:p>
        </p:txBody>
      </p:sp>
      <p:grpSp>
        <p:nvGrpSpPr>
          <p:cNvPr name="Group 158" id="158"/>
          <p:cNvGrpSpPr/>
          <p:nvPr/>
        </p:nvGrpSpPr>
        <p:grpSpPr>
          <a:xfrm rot="0">
            <a:off x="1965960" y="9710928"/>
            <a:ext cx="219456" cy="219456"/>
            <a:chOff x="0" y="0"/>
            <a:chExt cx="292608" cy="29260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31648" y="0"/>
                  </a:lnTo>
                  <a:cubicBezTo>
                    <a:pt x="265303" y="0"/>
                    <a:pt x="292608" y="27305"/>
                    <a:pt x="292608" y="60960"/>
                  </a:cubicBezTo>
                  <a:lnTo>
                    <a:pt x="292608" y="231648"/>
                  </a:lnTo>
                  <a:cubicBezTo>
                    <a:pt x="292608" y="265303"/>
                    <a:pt x="265303" y="292608"/>
                    <a:pt x="231648" y="292608"/>
                  </a:cubicBezTo>
                  <a:lnTo>
                    <a:pt x="60960" y="292608"/>
                  </a:lnTo>
                  <a:cubicBezTo>
                    <a:pt x="27305" y="292608"/>
                    <a:pt x="0" y="265303"/>
                    <a:pt x="0" y="23164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60" id="160"/>
          <p:cNvSpPr txBox="true"/>
          <p:nvPr/>
        </p:nvSpPr>
        <p:spPr>
          <a:xfrm rot="0">
            <a:off x="2331720" y="9645015"/>
            <a:ext cx="7315200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cell [0,0] — the feeder, never built on; its centre is the home corner</a:t>
            </a:r>
          </a:p>
        </p:txBody>
      </p:sp>
      <p:grpSp>
        <p:nvGrpSpPr>
          <p:cNvPr name="Group 161" id="161"/>
          <p:cNvGrpSpPr/>
          <p:nvPr/>
        </p:nvGrpSpPr>
        <p:grpSpPr>
          <a:xfrm rot="0">
            <a:off x="9593266" y="3238186"/>
            <a:ext cx="7678550" cy="1890398"/>
            <a:chOff x="0" y="0"/>
            <a:chExt cx="10238067" cy="252053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238105" cy="2520569"/>
            </a:xfrm>
            <a:custGeom>
              <a:avLst/>
              <a:gdLst/>
              <a:ahLst/>
              <a:cxnLst/>
              <a:rect r="r" b="b" t="t" l="l"/>
              <a:pathLst>
                <a:path h="2520569" w="10238105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9918446" y="0"/>
                  </a:lnTo>
                  <a:cubicBezTo>
                    <a:pt x="10094976" y="0"/>
                    <a:pt x="10238105" y="143129"/>
                    <a:pt x="10238105" y="319659"/>
                  </a:cubicBezTo>
                  <a:lnTo>
                    <a:pt x="10238105" y="2200910"/>
                  </a:lnTo>
                  <a:cubicBezTo>
                    <a:pt x="10238105" y="2377440"/>
                    <a:pt x="10094976" y="2520569"/>
                    <a:pt x="9918446" y="2520569"/>
                  </a:cubicBezTo>
                  <a:lnTo>
                    <a:pt x="319659" y="2520569"/>
                  </a:lnTo>
                  <a:cubicBezTo>
                    <a:pt x="143129" y="2520569"/>
                    <a:pt x="0" y="2377440"/>
                    <a:pt x="0" y="220091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3" id="163"/>
          <p:cNvSpPr txBox="true"/>
          <p:nvPr/>
        </p:nvSpPr>
        <p:spPr>
          <a:xfrm rot="0">
            <a:off x="9966960" y="3519678"/>
            <a:ext cx="69494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One envelope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9966960" y="4039743"/>
            <a:ext cx="694944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Both lattices share the same 22.8 × 38.0 cm holder travel — a block lying down does not move a limit switch.</a:t>
            </a:r>
          </a:p>
        </p:txBody>
      </p:sp>
      <p:grpSp>
        <p:nvGrpSpPr>
          <p:cNvPr name="Group 165" id="165"/>
          <p:cNvGrpSpPr/>
          <p:nvPr/>
        </p:nvGrpSpPr>
        <p:grpSpPr>
          <a:xfrm rot="0">
            <a:off x="9593266" y="5323018"/>
            <a:ext cx="7678550" cy="1890398"/>
            <a:chOff x="0" y="0"/>
            <a:chExt cx="10238067" cy="2520531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0238105" cy="2520569"/>
            </a:xfrm>
            <a:custGeom>
              <a:avLst/>
              <a:gdLst/>
              <a:ahLst/>
              <a:cxnLst/>
              <a:rect r="r" b="b" t="t" l="l"/>
              <a:pathLst>
                <a:path h="2520569" w="10238105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9918446" y="0"/>
                  </a:lnTo>
                  <a:cubicBezTo>
                    <a:pt x="10094976" y="0"/>
                    <a:pt x="10238105" y="143129"/>
                    <a:pt x="10238105" y="319659"/>
                  </a:cubicBezTo>
                  <a:lnTo>
                    <a:pt x="10238105" y="2200910"/>
                  </a:lnTo>
                  <a:cubicBezTo>
                    <a:pt x="10238105" y="2377440"/>
                    <a:pt x="10094976" y="2520569"/>
                    <a:pt x="9918446" y="2520569"/>
                  </a:cubicBezTo>
                  <a:lnTo>
                    <a:pt x="319659" y="2520569"/>
                  </a:lnTo>
                  <a:cubicBezTo>
                    <a:pt x="143129" y="2520569"/>
                    <a:pt x="0" y="2377440"/>
                    <a:pt x="0" y="220091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7" id="167"/>
          <p:cNvSpPr txBox="true"/>
          <p:nvPr/>
        </p:nvSpPr>
        <p:spPr>
          <a:xfrm rot="0">
            <a:off x="9966960" y="5604510"/>
            <a:ext cx="69494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One feeder cell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9966960" y="6124575"/>
            <a:ext cx="694944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[0,0] is the feeder in both modes and is never built on: 7×6−1 = 41 standing, 3×10−1 = 29 lying.</a:t>
            </a:r>
          </a:p>
        </p:txBody>
      </p:sp>
      <p:grpSp>
        <p:nvGrpSpPr>
          <p:cNvPr name="Group 169" id="169"/>
          <p:cNvGrpSpPr/>
          <p:nvPr/>
        </p:nvGrpSpPr>
        <p:grpSpPr>
          <a:xfrm rot="0">
            <a:off x="9593266" y="7407850"/>
            <a:ext cx="7678550" cy="1890398"/>
            <a:chOff x="0" y="0"/>
            <a:chExt cx="10238067" cy="2520531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0238105" cy="2520569"/>
            </a:xfrm>
            <a:custGeom>
              <a:avLst/>
              <a:gdLst/>
              <a:ahLst/>
              <a:cxnLst/>
              <a:rect r="r" b="b" t="t" l="l"/>
              <a:pathLst>
                <a:path h="2520569" w="10238105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9918446" y="0"/>
                  </a:lnTo>
                  <a:cubicBezTo>
                    <a:pt x="10094976" y="0"/>
                    <a:pt x="10238105" y="143129"/>
                    <a:pt x="10238105" y="319659"/>
                  </a:cubicBezTo>
                  <a:lnTo>
                    <a:pt x="10238105" y="2200910"/>
                  </a:lnTo>
                  <a:cubicBezTo>
                    <a:pt x="10238105" y="2377440"/>
                    <a:pt x="10094976" y="2520569"/>
                    <a:pt x="9918446" y="2520569"/>
                  </a:cubicBezTo>
                  <a:lnTo>
                    <a:pt x="319659" y="2520569"/>
                  </a:lnTo>
                  <a:cubicBezTo>
                    <a:pt x="143129" y="2520569"/>
                    <a:pt x="0" y="2377440"/>
                    <a:pt x="0" y="220091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71" id="171"/>
          <p:cNvSpPr txBox="true"/>
          <p:nvPr/>
        </p:nvSpPr>
        <p:spPr>
          <a:xfrm rot="0">
            <a:off x="9966960" y="7689342"/>
            <a:ext cx="69494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+1.9 cm registration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9966960" y="8209407"/>
            <a:ext cx="694944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(6.0 − 2.2)/2 = 1.9 — exactly the overhang of the rotated face, so horizontal [0,0] seats flush against vertical [0,0].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188966"/>
            <a:ext cx="18288000" cy="964387"/>
          </a:xfrm>
          <a:custGeom>
            <a:avLst/>
            <a:gdLst/>
            <a:ahLst/>
            <a:cxnLst/>
            <a:rect r="r" b="b" t="t" l="l"/>
            <a:pathLst>
              <a:path h="964387" w="18288000">
                <a:moveTo>
                  <a:pt x="0" y="0"/>
                </a:moveTo>
                <a:lnTo>
                  <a:pt x="18288000" y="0"/>
                </a:lnTo>
                <a:lnTo>
                  <a:pt x="18288000" y="964388"/>
                </a:lnTo>
                <a:lnTo>
                  <a:pt x="0" y="964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92430"/>
            <a:ext cx="4368927" cy="5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78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Bill Of Material - 1 of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4665" y="1433427"/>
            <a:ext cx="6618684" cy="79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Components - Computing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535114"/>
            <a:ext cx="3986689" cy="2956760"/>
            <a:chOff x="0" y="0"/>
            <a:chExt cx="5315585" cy="3942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15585" cy="3942334"/>
            </a:xfrm>
            <a:custGeom>
              <a:avLst/>
              <a:gdLst/>
              <a:ahLst/>
              <a:cxnLst/>
              <a:rect r="r" b="b" t="t" l="l"/>
              <a:pathLst>
                <a:path h="3942334" w="5315585">
                  <a:moveTo>
                    <a:pt x="0" y="0"/>
                  </a:moveTo>
                  <a:lnTo>
                    <a:pt x="5315585" y="0"/>
                  </a:lnTo>
                  <a:lnTo>
                    <a:pt x="5315585" y="3942334"/>
                  </a:lnTo>
                  <a:lnTo>
                    <a:pt x="0" y="3942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91" r="0" b="-49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61372" y="7358515"/>
            <a:ext cx="1921354" cy="44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07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Arduino MEGA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243331" y="4535114"/>
            <a:ext cx="3986689" cy="2956760"/>
            <a:chOff x="0" y="0"/>
            <a:chExt cx="5315585" cy="39423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15585" cy="3942334"/>
            </a:xfrm>
            <a:custGeom>
              <a:avLst/>
              <a:gdLst/>
              <a:ahLst/>
              <a:cxnLst/>
              <a:rect r="r" b="b" t="t" l="l"/>
              <a:pathLst>
                <a:path h="3942334" w="5315585">
                  <a:moveTo>
                    <a:pt x="0" y="0"/>
                  </a:moveTo>
                  <a:lnTo>
                    <a:pt x="5315585" y="0"/>
                  </a:lnTo>
                  <a:lnTo>
                    <a:pt x="5315585" y="3942334"/>
                  </a:lnTo>
                  <a:lnTo>
                    <a:pt x="0" y="3942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416" r="0" b="-1741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213272" y="7358524"/>
            <a:ext cx="1934842" cy="44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07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211518" y="4535114"/>
            <a:ext cx="3986689" cy="2956760"/>
            <a:chOff x="0" y="0"/>
            <a:chExt cx="5315585" cy="39423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15585" cy="3942334"/>
            </a:xfrm>
            <a:custGeom>
              <a:avLst/>
              <a:gdLst/>
              <a:ahLst/>
              <a:cxnLst/>
              <a:rect r="r" b="b" t="t" l="l"/>
              <a:pathLst>
                <a:path h="3942334" w="5315585">
                  <a:moveTo>
                    <a:pt x="0" y="0"/>
                  </a:moveTo>
                  <a:lnTo>
                    <a:pt x="5315585" y="0"/>
                  </a:lnTo>
                  <a:lnTo>
                    <a:pt x="5315585" y="3942334"/>
                  </a:lnTo>
                  <a:lnTo>
                    <a:pt x="0" y="3942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7416" r="0" b="-1741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038458" y="7358524"/>
            <a:ext cx="4220842" cy="44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</a:pPr>
            <a:r>
              <a:rPr lang="en-US" sz="207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Raspberry Pi 5 Camera Module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41262" y="8285112"/>
            <a:ext cx="1725054" cy="1684277"/>
            <a:chOff x="0" y="0"/>
            <a:chExt cx="2300072" cy="22457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0097" cy="2245741"/>
            </a:xfrm>
            <a:custGeom>
              <a:avLst/>
              <a:gdLst/>
              <a:ahLst/>
              <a:cxnLst/>
              <a:rect r="r" b="b" t="t" l="l"/>
              <a:pathLst>
                <a:path h="2245741" w="2300097">
                  <a:moveTo>
                    <a:pt x="0" y="0"/>
                  </a:moveTo>
                  <a:lnTo>
                    <a:pt x="2300097" y="0"/>
                  </a:lnTo>
                  <a:lnTo>
                    <a:pt x="2300097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9" r="1" b="-28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188966"/>
            <a:ext cx="18288000" cy="964387"/>
          </a:xfrm>
          <a:custGeom>
            <a:avLst/>
            <a:gdLst/>
            <a:ahLst/>
            <a:cxnLst/>
            <a:rect r="r" b="b" t="t" l="l"/>
            <a:pathLst>
              <a:path h="964387" w="18288000">
                <a:moveTo>
                  <a:pt x="0" y="0"/>
                </a:moveTo>
                <a:lnTo>
                  <a:pt x="18288000" y="0"/>
                </a:lnTo>
                <a:lnTo>
                  <a:pt x="18288000" y="964388"/>
                </a:lnTo>
                <a:lnTo>
                  <a:pt x="0" y="964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92430"/>
            <a:ext cx="4368927" cy="5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78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Bill Of Material - 2 of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433427"/>
            <a:ext cx="9275540" cy="79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Components - Electrical and Power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122228"/>
            <a:ext cx="2954017" cy="2777033"/>
            <a:chOff x="0" y="0"/>
            <a:chExt cx="3938689" cy="3702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86" r="0" b="-318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22045" y="5784952"/>
            <a:ext cx="276732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 NEMA17 Stepper Motor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6494383"/>
            <a:ext cx="2954017" cy="2777033"/>
            <a:chOff x="0" y="0"/>
            <a:chExt cx="3938689" cy="3702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86" r="0" b="-318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58842" y="9214266"/>
            <a:ext cx="1893732" cy="36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3x TB6600 Driver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368927" y="6494383"/>
            <a:ext cx="2954017" cy="2777033"/>
            <a:chOff x="0" y="0"/>
            <a:chExt cx="3938689" cy="37027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86" r="0" b="-318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010350" y="9157116"/>
            <a:ext cx="1671161" cy="36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ULN2003 Driver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68927" y="3292134"/>
            <a:ext cx="2954017" cy="2777033"/>
            <a:chOff x="0" y="0"/>
            <a:chExt cx="3938689" cy="3702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86" r="0" b="-3187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494981" y="5954857"/>
            <a:ext cx="2701928" cy="36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Stepper Motor 28BYJ-48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049371" y="3122228"/>
            <a:ext cx="2954017" cy="2777033"/>
            <a:chOff x="0" y="0"/>
            <a:chExt cx="3938689" cy="37027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86" r="0" b="-318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696443" y="5784961"/>
            <a:ext cx="1659893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 Servo Motor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049371" y="6494383"/>
            <a:ext cx="2954017" cy="2777033"/>
            <a:chOff x="0" y="0"/>
            <a:chExt cx="3938689" cy="37027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367" r="0" b="-1367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697624" y="9157116"/>
            <a:ext cx="1657512" cy="36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4x Limit Switch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389598" y="3122228"/>
            <a:ext cx="2954017" cy="2777033"/>
            <a:chOff x="0" y="0"/>
            <a:chExt cx="3938689" cy="37027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186" r="0" b="-318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355861" y="5784952"/>
            <a:ext cx="3021492" cy="36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Adjustable Buck Converter 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389598" y="6494383"/>
            <a:ext cx="2954017" cy="2777033"/>
            <a:chOff x="0" y="0"/>
            <a:chExt cx="3938689" cy="37027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186" r="0" b="-3187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645345" y="9157116"/>
            <a:ext cx="2442524" cy="36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Power Supply, 12V 15A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188966"/>
            <a:ext cx="18288000" cy="964387"/>
          </a:xfrm>
          <a:custGeom>
            <a:avLst/>
            <a:gdLst/>
            <a:ahLst/>
            <a:cxnLst/>
            <a:rect r="r" b="b" t="t" l="l"/>
            <a:pathLst>
              <a:path h="964387" w="18288000">
                <a:moveTo>
                  <a:pt x="0" y="0"/>
                </a:moveTo>
                <a:lnTo>
                  <a:pt x="18288000" y="0"/>
                </a:lnTo>
                <a:lnTo>
                  <a:pt x="18288000" y="964388"/>
                </a:lnTo>
                <a:lnTo>
                  <a:pt x="0" y="964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92430"/>
            <a:ext cx="4368927" cy="5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78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Bill Of Material - 3 of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433427"/>
            <a:ext cx="9275540" cy="79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Components - Mechanical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26769" y="2927585"/>
            <a:ext cx="2954017" cy="2777033"/>
            <a:chOff x="0" y="0"/>
            <a:chExt cx="3938689" cy="3702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86" r="0" b="-318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798370" y="5590318"/>
            <a:ext cx="4010816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Linear Rail + Linear Motion Bearing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91570" y="6445691"/>
            <a:ext cx="2954017" cy="2777033"/>
            <a:chOff x="0" y="0"/>
            <a:chExt cx="3938689" cy="3702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86" r="0" b="-318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698600" y="9108415"/>
            <a:ext cx="939956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GT2 Belt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66987" y="2927585"/>
            <a:ext cx="2954017" cy="2777033"/>
            <a:chOff x="0" y="0"/>
            <a:chExt cx="3938689" cy="37027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86" r="0" b="-318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350491" y="5590318"/>
            <a:ext cx="158702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Timing Pulley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31797" y="6445691"/>
            <a:ext cx="2954017" cy="2777033"/>
            <a:chOff x="0" y="0"/>
            <a:chExt cx="3938689" cy="3702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86" r="0" b="-3187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588209" y="9108415"/>
            <a:ext cx="1841183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Bearing Wheels</a:t>
            </a:r>
          </a:p>
          <a:p>
            <a:pPr algn="ctr">
              <a:lnSpc>
                <a:spcPts val="2518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1007214" y="2927585"/>
            <a:ext cx="2954017" cy="2777033"/>
            <a:chOff x="0" y="0"/>
            <a:chExt cx="3938689" cy="37027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8651" cy="3702685"/>
            </a:xfrm>
            <a:custGeom>
              <a:avLst/>
              <a:gdLst/>
              <a:ahLst/>
              <a:cxnLst/>
              <a:rect r="r" b="b" t="t" l="l"/>
              <a:pathLst>
                <a:path h="3702685" w="3938651">
                  <a:moveTo>
                    <a:pt x="0" y="0"/>
                  </a:moveTo>
                  <a:lnTo>
                    <a:pt x="3938651" y="0"/>
                  </a:lnTo>
                  <a:lnTo>
                    <a:pt x="3938651" y="3702685"/>
                  </a:lnTo>
                  <a:lnTo>
                    <a:pt x="0" y="3702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86" r="0" b="-318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462985" y="5590318"/>
            <a:ext cx="2042474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Aluminum Profile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41262" y="8285112"/>
            <a:ext cx="1725054" cy="1684277"/>
            <a:chOff x="0" y="0"/>
            <a:chExt cx="2300072" cy="22457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00097" cy="2245741"/>
            </a:xfrm>
            <a:custGeom>
              <a:avLst/>
              <a:gdLst/>
              <a:ahLst/>
              <a:cxnLst/>
              <a:rect r="r" b="b" t="t" l="l"/>
              <a:pathLst>
                <a:path h="2245741" w="2300097">
                  <a:moveTo>
                    <a:pt x="0" y="0"/>
                  </a:moveTo>
                  <a:lnTo>
                    <a:pt x="2300097" y="0"/>
                  </a:lnTo>
                  <a:lnTo>
                    <a:pt x="2300097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9" r="1" b="-28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04280" y="2780986"/>
            <a:ext cx="9484490" cy="6462398"/>
            <a:chOff x="0" y="0"/>
            <a:chExt cx="12645987" cy="86165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46025" cy="8616569"/>
            </a:xfrm>
            <a:custGeom>
              <a:avLst/>
              <a:gdLst/>
              <a:ahLst/>
              <a:cxnLst/>
              <a:rect r="r" b="b" t="t" l="l"/>
              <a:pathLst>
                <a:path h="8616569" w="12646025">
                  <a:moveTo>
                    <a:pt x="0" y="317754"/>
                  </a:moveTo>
                  <a:cubicBezTo>
                    <a:pt x="0" y="142240"/>
                    <a:pt x="142240" y="0"/>
                    <a:pt x="317754" y="0"/>
                  </a:cubicBezTo>
                  <a:lnTo>
                    <a:pt x="12328271" y="0"/>
                  </a:lnTo>
                  <a:cubicBezTo>
                    <a:pt x="12503785" y="0"/>
                    <a:pt x="12646025" y="142240"/>
                    <a:pt x="12646025" y="317754"/>
                  </a:cubicBezTo>
                  <a:lnTo>
                    <a:pt x="12646025" y="8298815"/>
                  </a:lnTo>
                  <a:cubicBezTo>
                    <a:pt x="12646025" y="8474329"/>
                    <a:pt x="12503785" y="8616569"/>
                    <a:pt x="12328271" y="8616569"/>
                  </a:cubicBezTo>
                  <a:lnTo>
                    <a:pt x="317754" y="8616569"/>
                  </a:lnTo>
                  <a:cubicBezTo>
                    <a:pt x="142240" y="8616569"/>
                    <a:pt x="0" y="8474329"/>
                    <a:pt x="0" y="829881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913382" y="2990088"/>
            <a:ext cx="9066276" cy="6044184"/>
            <a:chOff x="0" y="0"/>
            <a:chExt cx="12088368" cy="805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88368" cy="8058912"/>
            </a:xfrm>
            <a:custGeom>
              <a:avLst/>
              <a:gdLst/>
              <a:ahLst/>
              <a:cxnLst/>
              <a:rect r="r" b="b" t="t" l="l"/>
              <a:pathLst>
                <a:path h="8058912" w="12088368">
                  <a:moveTo>
                    <a:pt x="0" y="0"/>
                  </a:moveTo>
                  <a:lnTo>
                    <a:pt x="12088368" y="0"/>
                  </a:lnTo>
                  <a:lnTo>
                    <a:pt x="12088368" y="8058912"/>
                  </a:lnTo>
                  <a:lnTo>
                    <a:pt x="0" y="805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82186" y="6895786"/>
            <a:ext cx="4633598" cy="2347598"/>
            <a:chOff x="0" y="0"/>
            <a:chExt cx="6178131" cy="31301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8169" cy="3130169"/>
            </a:xfrm>
            <a:custGeom>
              <a:avLst/>
              <a:gdLst/>
              <a:ahLst/>
              <a:cxnLst/>
              <a:rect r="r" b="b" t="t" l="l"/>
              <a:pathLst>
                <a:path h="3130169" w="6178169">
                  <a:moveTo>
                    <a:pt x="0" y="319151"/>
                  </a:moveTo>
                  <a:cubicBezTo>
                    <a:pt x="0" y="142875"/>
                    <a:pt x="142875" y="0"/>
                    <a:pt x="319151" y="0"/>
                  </a:cubicBezTo>
                  <a:lnTo>
                    <a:pt x="5859018" y="0"/>
                  </a:lnTo>
                  <a:cubicBezTo>
                    <a:pt x="6035294" y="0"/>
                    <a:pt x="6178169" y="142875"/>
                    <a:pt x="6178169" y="319151"/>
                  </a:cubicBezTo>
                  <a:lnTo>
                    <a:pt x="6178169" y="2811018"/>
                  </a:lnTo>
                  <a:cubicBezTo>
                    <a:pt x="6178169" y="2987294"/>
                    <a:pt x="6035294" y="3130169"/>
                    <a:pt x="5859018" y="3130169"/>
                  </a:cubicBezTo>
                  <a:lnTo>
                    <a:pt x="319151" y="3130169"/>
                  </a:lnTo>
                  <a:cubicBezTo>
                    <a:pt x="142875" y="3130169"/>
                    <a:pt x="0" y="2987294"/>
                    <a:pt x="0" y="281101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POWER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12 V RAIL, ONE 5 V RAIL, ONE COMMON GROUND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90120" y="2969895"/>
            <a:ext cx="4617720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b="true" sz="18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12 V rail — </a:t>
            </a: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three TB6600 drivers and the A4988 on the feeder belt.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b="true" sz="18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5 V rail — </a:t>
            </a: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 LM2596 buck converter feeds three servos, the ULN2003, both HC-SR04s and the A4988 logic.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b="true" sz="18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Both Arduinos — </a:t>
            </a: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powered over USB from the Pi, which is also how they communicate.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82728" y="7131558"/>
            <a:ext cx="40233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Why 15 A is not overspecified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2728" y="7615047"/>
            <a:ext cx="40233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build cycle moves one thing at a time, so the instantaneous draw is usually a single stepper plus logic.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TAKEN DIRECTLY FROM THE TWO FIRMWARE SOURCES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204141" y="2950150"/>
            <a:ext cx="7879718" cy="5392550"/>
            <a:chOff x="0" y="0"/>
            <a:chExt cx="10506291" cy="71900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06329" cy="7190105"/>
            </a:xfrm>
            <a:custGeom>
              <a:avLst/>
              <a:gdLst/>
              <a:ahLst/>
              <a:cxnLst/>
              <a:rect r="r" b="b" t="t" l="l"/>
              <a:pathLst>
                <a:path h="7190105" w="10506329">
                  <a:moveTo>
                    <a:pt x="0" y="317881"/>
                  </a:moveTo>
                  <a:cubicBezTo>
                    <a:pt x="0" y="142367"/>
                    <a:pt x="142367" y="0"/>
                    <a:pt x="317881" y="0"/>
                  </a:cubicBezTo>
                  <a:lnTo>
                    <a:pt x="10188448" y="0"/>
                  </a:lnTo>
                  <a:cubicBezTo>
                    <a:pt x="10363962" y="0"/>
                    <a:pt x="10506329" y="142367"/>
                    <a:pt x="10506329" y="317881"/>
                  </a:cubicBezTo>
                  <a:lnTo>
                    <a:pt x="10506329" y="6872224"/>
                  </a:lnTo>
                  <a:cubicBezTo>
                    <a:pt x="10506329" y="7047738"/>
                    <a:pt x="10363962" y="7190105"/>
                    <a:pt x="10188448" y="7190105"/>
                  </a:cubicBezTo>
                  <a:lnTo>
                    <a:pt x="317881" y="7190105"/>
                  </a:lnTo>
                  <a:cubicBezTo>
                    <a:pt x="142367" y="7190105"/>
                    <a:pt x="0" y="7047738"/>
                    <a:pt x="0" y="687222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413243" y="3159252"/>
            <a:ext cx="7461504" cy="4974336"/>
            <a:chOff x="0" y="0"/>
            <a:chExt cx="9948672" cy="6632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48672" cy="6632448"/>
            </a:xfrm>
            <a:custGeom>
              <a:avLst/>
              <a:gdLst/>
              <a:ahLst/>
              <a:cxnLst/>
              <a:rect r="r" b="b" t="t" l="l"/>
              <a:pathLst>
                <a:path h="6632448" w="9948672">
                  <a:moveTo>
                    <a:pt x="0" y="0"/>
                  </a:moveTo>
                  <a:lnTo>
                    <a:pt x="9948672" y="0"/>
                  </a:lnTo>
                  <a:lnTo>
                    <a:pt x="9948672" y="6632448"/>
                  </a:lnTo>
                  <a:lnTo>
                    <a:pt x="0" y="6632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220019" y="8221599"/>
            <a:ext cx="786384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Arduino MEGA 2560 — three TB6600 drivers, four limit switches, gripper servo, ULN2003 rotation stepper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9060180"/>
            <a:ext cx="1623974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Motor and sensor runs use connectors rather than direct solder joints, so a motor can be swapped and the gantry dismantled for transport. There is no enclosure and no cable chain.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4128" y="1417320"/>
            <a:ext cx="16239744" cy="7452360"/>
            <a:chOff x="0" y="0"/>
            <a:chExt cx="21652992" cy="9936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52993" cy="9936480"/>
            </a:xfrm>
            <a:custGeom>
              <a:avLst/>
              <a:gdLst/>
              <a:ahLst/>
              <a:cxnLst/>
              <a:rect r="r" b="b" t="t" l="l"/>
              <a:pathLst>
                <a:path h="9936480" w="21652993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lnTo>
                    <a:pt x="20982432" y="0"/>
                  </a:lnTo>
                  <a:cubicBezTo>
                    <a:pt x="21352765" y="0"/>
                    <a:pt x="21652993" y="300228"/>
                    <a:pt x="21652993" y="670560"/>
                  </a:cubicBezTo>
                  <a:lnTo>
                    <a:pt x="21652993" y="9265920"/>
                  </a:lnTo>
                  <a:cubicBezTo>
                    <a:pt x="21652993" y="9636251"/>
                    <a:pt x="21352765" y="9936480"/>
                    <a:pt x="20982432" y="9936480"/>
                  </a:cubicBezTo>
                  <a:lnTo>
                    <a:pt x="670560" y="9936480"/>
                  </a:lnTo>
                  <a:cubicBezTo>
                    <a:pt x="300228" y="9936480"/>
                    <a:pt x="0" y="9636252"/>
                    <a:pt x="0" y="9265920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11680" y="2531745"/>
            <a:ext cx="475488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1000">
                <a:solidFill>
                  <a:srgbClr val="3E5FC4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680" y="3998595"/>
            <a:ext cx="8778240" cy="23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639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&amp; CONTROL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680" y="6497955"/>
            <a:ext cx="841248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What the camera sees, how a pixel becomes a cell, and the protocol that decides when the machine is allowed to move.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09960" y="2331720"/>
            <a:ext cx="5394960" cy="5623560"/>
            <a:chOff x="0" y="0"/>
            <a:chExt cx="7193280" cy="749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7498080"/>
            </a:xfrm>
            <a:custGeom>
              <a:avLst/>
              <a:gdLst/>
              <a:ahLst/>
              <a:cxnLst/>
              <a:rect r="r" b="b" t="t" l="l"/>
              <a:pathLst>
                <a:path h="7498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80" t="0" r="-3848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LENS, TWO COSTS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A 160° FISHEYE AT 50 CM BUYS, AND COSTS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64438" y="2780986"/>
            <a:ext cx="7867526" cy="6005198"/>
            <a:chOff x="0" y="0"/>
            <a:chExt cx="10490035" cy="80069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89947" cy="8006842"/>
            </a:xfrm>
            <a:custGeom>
              <a:avLst/>
              <a:gdLst/>
              <a:ahLst/>
              <a:cxnLst/>
              <a:rect r="r" b="b" t="t" l="l"/>
              <a:pathLst>
                <a:path h="8006842" w="10489947">
                  <a:moveTo>
                    <a:pt x="0" y="317754"/>
                  </a:moveTo>
                  <a:cubicBezTo>
                    <a:pt x="0" y="142240"/>
                    <a:pt x="142240" y="0"/>
                    <a:pt x="317754" y="0"/>
                  </a:cubicBezTo>
                  <a:lnTo>
                    <a:pt x="10172192" y="0"/>
                  </a:lnTo>
                  <a:cubicBezTo>
                    <a:pt x="10347706" y="0"/>
                    <a:pt x="10489947" y="142240"/>
                    <a:pt x="10489947" y="317754"/>
                  </a:cubicBezTo>
                  <a:lnTo>
                    <a:pt x="10489947" y="7689088"/>
                  </a:lnTo>
                  <a:cubicBezTo>
                    <a:pt x="10489947" y="7864602"/>
                    <a:pt x="10347706" y="8006842"/>
                    <a:pt x="10172192" y="8006842"/>
                  </a:cubicBezTo>
                  <a:lnTo>
                    <a:pt x="317754" y="8006842"/>
                  </a:lnTo>
                  <a:cubicBezTo>
                    <a:pt x="142240" y="8006969"/>
                    <a:pt x="0" y="7864602"/>
                    <a:pt x="0" y="768908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73540" y="2990088"/>
            <a:ext cx="7449312" cy="5586984"/>
            <a:chOff x="0" y="0"/>
            <a:chExt cx="9932416" cy="74493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32416" cy="7449312"/>
            </a:xfrm>
            <a:custGeom>
              <a:avLst/>
              <a:gdLst/>
              <a:ahLst/>
              <a:cxnLst/>
              <a:rect r="r" b="b" t="t" l="l"/>
              <a:pathLst>
                <a:path h="7449312" w="9932416">
                  <a:moveTo>
                    <a:pt x="0" y="0"/>
                  </a:moveTo>
                  <a:lnTo>
                    <a:pt x="9932416" y="0"/>
                  </a:lnTo>
                  <a:lnTo>
                    <a:pt x="9932416" y="7449312"/>
                  </a:lnTo>
                  <a:lnTo>
                    <a:pt x="0" y="7449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32520" y="8868537"/>
            <a:ext cx="8531352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 raw frame straight off the camera, before any correction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6194" y="2780986"/>
            <a:ext cx="7422518" cy="1040006"/>
            <a:chOff x="0" y="0"/>
            <a:chExt cx="9896691" cy="13866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96728" cy="1386713"/>
            </a:xfrm>
            <a:custGeom>
              <a:avLst/>
              <a:gdLst/>
              <a:ahLst/>
              <a:cxnLst/>
              <a:rect r="r" b="b" t="t" l="l"/>
              <a:pathLst>
                <a:path h="1386713" w="9896728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9574784" y="0"/>
                  </a:lnTo>
                  <a:cubicBezTo>
                    <a:pt x="9752584" y="0"/>
                    <a:pt x="9896728" y="144145"/>
                    <a:pt x="9896728" y="321945"/>
                  </a:cubicBezTo>
                  <a:lnTo>
                    <a:pt x="9896728" y="1064768"/>
                  </a:lnTo>
                  <a:cubicBezTo>
                    <a:pt x="9896728" y="1242568"/>
                    <a:pt x="9752584" y="1386713"/>
                    <a:pt x="9574784" y="1386713"/>
                  </a:cubicBezTo>
                  <a:lnTo>
                    <a:pt x="321945" y="1386713"/>
                  </a:lnTo>
                  <a:cubicBezTo>
                    <a:pt x="144145" y="1386713"/>
                    <a:pt x="0" y="1242568"/>
                    <a:pt x="0" y="106476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16736" y="2943225"/>
            <a:ext cx="23317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Sensor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21608" y="2943225"/>
            <a:ext cx="448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OV5647, 5 MP, DORHEA module on the Pi 5 CSI bus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6194" y="3887410"/>
            <a:ext cx="7422518" cy="1040006"/>
            <a:chOff x="0" y="0"/>
            <a:chExt cx="9896691" cy="1386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96728" cy="1386713"/>
            </a:xfrm>
            <a:custGeom>
              <a:avLst/>
              <a:gdLst/>
              <a:ahLst/>
              <a:cxnLst/>
              <a:rect r="r" b="b" t="t" l="l"/>
              <a:pathLst>
                <a:path h="1386713" w="9896728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9574784" y="0"/>
                  </a:lnTo>
                  <a:cubicBezTo>
                    <a:pt x="9752584" y="0"/>
                    <a:pt x="9896728" y="144145"/>
                    <a:pt x="9896728" y="321945"/>
                  </a:cubicBezTo>
                  <a:lnTo>
                    <a:pt x="9896728" y="1064768"/>
                  </a:lnTo>
                  <a:cubicBezTo>
                    <a:pt x="9896728" y="1242568"/>
                    <a:pt x="9752584" y="1386713"/>
                    <a:pt x="9574784" y="1386713"/>
                  </a:cubicBezTo>
                  <a:lnTo>
                    <a:pt x="321945" y="1386713"/>
                  </a:lnTo>
                  <a:cubicBezTo>
                    <a:pt x="144145" y="1386713"/>
                    <a:pt x="0" y="1242568"/>
                    <a:pt x="0" y="106476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16736" y="4049649"/>
            <a:ext cx="23317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Lens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1608" y="4049649"/>
            <a:ext cx="448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160° fisheye, mounted rigidly ≈ 50 cm above the surface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6194" y="4993834"/>
            <a:ext cx="7422518" cy="1040006"/>
            <a:chOff x="0" y="0"/>
            <a:chExt cx="9896691" cy="13866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96728" cy="1386713"/>
            </a:xfrm>
            <a:custGeom>
              <a:avLst/>
              <a:gdLst/>
              <a:ahLst/>
              <a:cxnLst/>
              <a:rect r="r" b="b" t="t" l="l"/>
              <a:pathLst>
                <a:path h="1386713" w="9896728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9574784" y="0"/>
                  </a:lnTo>
                  <a:cubicBezTo>
                    <a:pt x="9752584" y="0"/>
                    <a:pt x="9896728" y="144145"/>
                    <a:pt x="9896728" y="321945"/>
                  </a:cubicBezTo>
                  <a:lnTo>
                    <a:pt x="9896728" y="1064768"/>
                  </a:lnTo>
                  <a:cubicBezTo>
                    <a:pt x="9896728" y="1242568"/>
                    <a:pt x="9752584" y="1386713"/>
                    <a:pt x="9574784" y="1386713"/>
                  </a:cubicBezTo>
                  <a:lnTo>
                    <a:pt x="321945" y="1386713"/>
                  </a:lnTo>
                  <a:cubicBezTo>
                    <a:pt x="144145" y="1386713"/>
                    <a:pt x="0" y="1242568"/>
                    <a:pt x="0" y="106476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16736" y="5156073"/>
            <a:ext cx="23317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Capture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21608" y="5156073"/>
            <a:ext cx="448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1296 × 972 through Picamera2 — the binned full-field mode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6194" y="6100258"/>
            <a:ext cx="7422518" cy="1040006"/>
            <a:chOff x="0" y="0"/>
            <a:chExt cx="9896691" cy="13866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96728" cy="1386713"/>
            </a:xfrm>
            <a:custGeom>
              <a:avLst/>
              <a:gdLst/>
              <a:ahLst/>
              <a:cxnLst/>
              <a:rect r="r" b="b" t="t" l="l"/>
              <a:pathLst>
                <a:path h="1386713" w="9896728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9574784" y="0"/>
                  </a:lnTo>
                  <a:cubicBezTo>
                    <a:pt x="9752584" y="0"/>
                    <a:pt x="9896728" y="144145"/>
                    <a:pt x="9896728" y="321945"/>
                  </a:cubicBezTo>
                  <a:lnTo>
                    <a:pt x="9896728" y="1064768"/>
                  </a:lnTo>
                  <a:cubicBezTo>
                    <a:pt x="9896728" y="1242568"/>
                    <a:pt x="9752584" y="1386713"/>
                    <a:pt x="9574784" y="1386713"/>
                  </a:cubicBezTo>
                  <a:lnTo>
                    <a:pt x="321945" y="1386713"/>
                  </a:lnTo>
                  <a:cubicBezTo>
                    <a:pt x="144145" y="1386713"/>
                    <a:pt x="0" y="1242568"/>
                    <a:pt x="0" y="106476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16736" y="6262497"/>
            <a:ext cx="23317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Why binned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21608" y="6262497"/>
            <a:ext cx="448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It keeps the whole 23 × 38 cm workspace in one frame, and the per-frame cost inside budget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16194" y="7206682"/>
            <a:ext cx="7422518" cy="1040006"/>
            <a:chOff x="0" y="0"/>
            <a:chExt cx="9896691" cy="13866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96728" cy="1386713"/>
            </a:xfrm>
            <a:custGeom>
              <a:avLst/>
              <a:gdLst/>
              <a:ahLst/>
              <a:cxnLst/>
              <a:rect r="r" b="b" t="t" l="l"/>
              <a:pathLst>
                <a:path h="1386713" w="9896728">
                  <a:moveTo>
                    <a:pt x="0" y="321945"/>
                  </a:moveTo>
                  <a:cubicBezTo>
                    <a:pt x="0" y="144145"/>
                    <a:pt x="144145" y="0"/>
                    <a:pt x="321945" y="0"/>
                  </a:cubicBezTo>
                  <a:lnTo>
                    <a:pt x="9574784" y="0"/>
                  </a:lnTo>
                  <a:cubicBezTo>
                    <a:pt x="9752584" y="0"/>
                    <a:pt x="9896728" y="144145"/>
                    <a:pt x="9896728" y="321945"/>
                  </a:cubicBezTo>
                  <a:lnTo>
                    <a:pt x="9896728" y="1064768"/>
                  </a:lnTo>
                  <a:cubicBezTo>
                    <a:pt x="9896728" y="1242568"/>
                    <a:pt x="9752584" y="1386713"/>
                    <a:pt x="9574784" y="1386713"/>
                  </a:cubicBezTo>
                  <a:lnTo>
                    <a:pt x="321945" y="1386713"/>
                  </a:lnTo>
                  <a:cubicBezTo>
                    <a:pt x="144145" y="1386713"/>
                    <a:pt x="0" y="1242568"/>
                    <a:pt x="0" y="106476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16736" y="7368921"/>
            <a:ext cx="23317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Lens model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21608" y="7368921"/>
            <a:ext cx="44805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Equidistant, 120° output — tuned by eye, not checkerboard-calibrated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24128" y="8348472"/>
            <a:ext cx="7406640" cy="1572768"/>
            <a:chOff x="0" y="0"/>
            <a:chExt cx="9875520" cy="20970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75520" cy="2097024"/>
            </a:xfrm>
            <a:custGeom>
              <a:avLst/>
              <a:gdLst/>
              <a:ahLst/>
              <a:cxnLst/>
              <a:rect r="r" b="b" t="t" l="l"/>
              <a:pathLst>
                <a:path h="2097024" w="9875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9509760" y="0"/>
                  </a:lnTo>
                  <a:cubicBezTo>
                    <a:pt x="9711817" y="0"/>
                    <a:pt x="9875520" y="163703"/>
                    <a:pt x="9875520" y="365760"/>
                  </a:cubicBezTo>
                  <a:lnTo>
                    <a:pt x="9875520" y="1731264"/>
                  </a:lnTo>
                  <a:cubicBezTo>
                    <a:pt x="9875520" y="1933321"/>
                    <a:pt x="9711817" y="2097024"/>
                    <a:pt x="9509760" y="2097024"/>
                  </a:cubicBezTo>
                  <a:lnTo>
                    <a:pt x="365760" y="2097024"/>
                  </a:lnTo>
                  <a:cubicBezTo>
                    <a:pt x="163703" y="2097024"/>
                    <a:pt x="0" y="1933321"/>
                    <a:pt x="0" y="173126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35608" y="8474583"/>
            <a:ext cx="65836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TWO COSTS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5608" y="8923020"/>
            <a:ext cx="658368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0975" indent="-90488" lvl="1">
              <a:lnSpc>
                <a:spcPts val="2025"/>
              </a:lnSpc>
              <a:buFont typeface="Arial"/>
              <a:buChar char="•"/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Severe barrel distortion — the aluminium rails are straight on the machine and curved in the image</a:t>
            </a:r>
          </a:p>
          <a:p>
            <a:pPr algn="l" marL="180975" indent="-90488" lvl="1">
              <a:lnSpc>
                <a:spcPts val="2025"/>
              </a:lnSpc>
              <a:buFont typeface="Arial"/>
              <a:buChar char="•"/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colour cast strong enough to be a functional fault, not a cosmetic one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VISION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PROCESS OWNS THE CAMERA; ONE FIXED ROUTE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856674" y="2872426"/>
            <a:ext cx="8574662" cy="4496438"/>
            <a:chOff x="0" y="0"/>
            <a:chExt cx="11432883" cy="5995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2921" cy="5995289"/>
            </a:xfrm>
            <a:custGeom>
              <a:avLst/>
              <a:gdLst/>
              <a:ahLst/>
              <a:cxnLst/>
              <a:rect r="r" b="b" t="t" l="l"/>
              <a:pathLst>
                <a:path h="5995289" w="11432921">
                  <a:moveTo>
                    <a:pt x="0" y="318135"/>
                  </a:moveTo>
                  <a:cubicBezTo>
                    <a:pt x="0" y="142367"/>
                    <a:pt x="142367" y="0"/>
                    <a:pt x="318135" y="0"/>
                  </a:cubicBezTo>
                  <a:lnTo>
                    <a:pt x="11114786" y="0"/>
                  </a:lnTo>
                  <a:cubicBezTo>
                    <a:pt x="11290427" y="0"/>
                    <a:pt x="11432921" y="142367"/>
                    <a:pt x="11432921" y="318135"/>
                  </a:cubicBezTo>
                  <a:lnTo>
                    <a:pt x="11432921" y="5677154"/>
                  </a:lnTo>
                  <a:cubicBezTo>
                    <a:pt x="11432921" y="5852795"/>
                    <a:pt x="11290554" y="5995289"/>
                    <a:pt x="11114786" y="5995289"/>
                  </a:cubicBezTo>
                  <a:lnTo>
                    <a:pt x="318135" y="5995289"/>
                  </a:lnTo>
                  <a:cubicBezTo>
                    <a:pt x="142367" y="5995289"/>
                    <a:pt x="0" y="5852795"/>
                    <a:pt x="0" y="567715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065776" y="3081528"/>
            <a:ext cx="8156448" cy="4078224"/>
            <a:chOff x="0" y="0"/>
            <a:chExt cx="10875264" cy="5437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75264" cy="5437632"/>
            </a:xfrm>
            <a:custGeom>
              <a:avLst/>
              <a:gdLst/>
              <a:ahLst/>
              <a:cxnLst/>
              <a:rect r="r" b="b" t="t" l="l"/>
              <a:pathLst>
                <a:path h="5437632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5437632"/>
                  </a:lnTo>
                  <a:lnTo>
                    <a:pt x="0" y="543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6194" y="7627306"/>
            <a:ext cx="5246246" cy="1936118"/>
            <a:chOff x="0" y="0"/>
            <a:chExt cx="6994995" cy="2581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4906" cy="2581402"/>
            </a:xfrm>
            <a:custGeom>
              <a:avLst/>
              <a:gdLst/>
              <a:ahLst/>
              <a:cxnLst/>
              <a:rect r="r" b="b" t="t" l="l"/>
              <a:pathLst>
                <a:path h="2581402" w="6994906">
                  <a:moveTo>
                    <a:pt x="0" y="319532"/>
                  </a:moveTo>
                  <a:cubicBezTo>
                    <a:pt x="0" y="143129"/>
                    <a:pt x="143129" y="0"/>
                    <a:pt x="319532" y="0"/>
                  </a:cubicBezTo>
                  <a:lnTo>
                    <a:pt x="6675374" y="0"/>
                  </a:lnTo>
                  <a:cubicBezTo>
                    <a:pt x="6851904" y="0"/>
                    <a:pt x="6994906" y="143129"/>
                    <a:pt x="6994906" y="319532"/>
                  </a:cubicBezTo>
                  <a:lnTo>
                    <a:pt x="6994906" y="2261870"/>
                  </a:lnTo>
                  <a:cubicBezTo>
                    <a:pt x="6994906" y="2438400"/>
                    <a:pt x="6851777" y="2581402"/>
                    <a:pt x="6675374" y="2581402"/>
                  </a:cubicBezTo>
                  <a:lnTo>
                    <a:pt x="319532" y="2581402"/>
                  </a:lnTo>
                  <a:cubicBezTo>
                    <a:pt x="143129" y="2581529"/>
                    <a:pt x="0" y="2438400"/>
                    <a:pt x="0" y="226187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16736" y="7798689"/>
            <a:ext cx="4645152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Colour correction runs once, at the captured frame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6736" y="8447532"/>
            <a:ext cx="464515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Applied immediately after orientation and before every detector, so every tool in the system sees identical pixels. Colour is deliberately not part of the saved projection identity.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0882" y="7627306"/>
            <a:ext cx="5246246" cy="1936118"/>
            <a:chOff x="0" y="0"/>
            <a:chExt cx="6994995" cy="25814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4906" cy="2581402"/>
            </a:xfrm>
            <a:custGeom>
              <a:avLst/>
              <a:gdLst/>
              <a:ahLst/>
              <a:cxnLst/>
              <a:rect r="r" b="b" t="t" l="l"/>
              <a:pathLst>
                <a:path h="2581402" w="6994906">
                  <a:moveTo>
                    <a:pt x="0" y="319532"/>
                  </a:moveTo>
                  <a:cubicBezTo>
                    <a:pt x="0" y="143129"/>
                    <a:pt x="143129" y="0"/>
                    <a:pt x="319532" y="0"/>
                  </a:cubicBezTo>
                  <a:lnTo>
                    <a:pt x="6675374" y="0"/>
                  </a:lnTo>
                  <a:cubicBezTo>
                    <a:pt x="6851904" y="0"/>
                    <a:pt x="6994906" y="143129"/>
                    <a:pt x="6994906" y="319532"/>
                  </a:cubicBezTo>
                  <a:lnTo>
                    <a:pt x="6994906" y="2261870"/>
                  </a:lnTo>
                  <a:cubicBezTo>
                    <a:pt x="6994906" y="2438400"/>
                    <a:pt x="6851777" y="2581402"/>
                    <a:pt x="6675374" y="2581402"/>
                  </a:cubicBezTo>
                  <a:lnTo>
                    <a:pt x="319532" y="2581402"/>
                  </a:lnTo>
                  <a:cubicBezTo>
                    <a:pt x="143129" y="2581529"/>
                    <a:pt x="0" y="2438400"/>
                    <a:pt x="0" y="226187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21424" y="7798689"/>
            <a:ext cx="4645152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Detection runs on a background worker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1424" y="8447532"/>
            <a:ext cx="464515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At a lower rate than the video, with the main loop drawing the last completed result. A slow analysis can never stall the stream.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25570" y="7627306"/>
            <a:ext cx="5246246" cy="1936118"/>
            <a:chOff x="0" y="0"/>
            <a:chExt cx="6994995" cy="25814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4906" cy="2581402"/>
            </a:xfrm>
            <a:custGeom>
              <a:avLst/>
              <a:gdLst/>
              <a:ahLst/>
              <a:cxnLst/>
              <a:rect r="r" b="b" t="t" l="l"/>
              <a:pathLst>
                <a:path h="2581402" w="6994906">
                  <a:moveTo>
                    <a:pt x="0" y="319532"/>
                  </a:moveTo>
                  <a:cubicBezTo>
                    <a:pt x="0" y="143129"/>
                    <a:pt x="143129" y="0"/>
                    <a:pt x="319532" y="0"/>
                  </a:cubicBezTo>
                  <a:lnTo>
                    <a:pt x="6675374" y="0"/>
                  </a:lnTo>
                  <a:cubicBezTo>
                    <a:pt x="6851904" y="0"/>
                    <a:pt x="6994906" y="143129"/>
                    <a:pt x="6994906" y="319532"/>
                  </a:cubicBezTo>
                  <a:lnTo>
                    <a:pt x="6994906" y="2261870"/>
                  </a:lnTo>
                  <a:cubicBezTo>
                    <a:pt x="6994906" y="2438400"/>
                    <a:pt x="6851777" y="2581402"/>
                    <a:pt x="6675374" y="2581402"/>
                  </a:cubicBezTo>
                  <a:lnTo>
                    <a:pt x="319532" y="2581402"/>
                  </a:lnTo>
                  <a:cubicBezTo>
                    <a:pt x="143129" y="2581529"/>
                    <a:pt x="0" y="2438400"/>
                    <a:pt x="0" y="226187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326112" y="7798689"/>
            <a:ext cx="4645152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Pi picks the cell; the firmware turns it into steps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26112" y="8447532"/>
            <a:ext cx="464515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saved homography converts a pixel to physical centimetres and then to a [col, row]. The Pi never needs a motor step to draw or select one.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BLOCK DETECTION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HYPOTHESIS, THEN AN ANSWER — THREE LAYERS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47489" y="2780986"/>
            <a:ext cx="6177439" cy="3810638"/>
            <a:chOff x="0" y="0"/>
            <a:chExt cx="8236585" cy="5080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585" cy="5080762"/>
            </a:xfrm>
            <a:custGeom>
              <a:avLst/>
              <a:gdLst/>
              <a:ahLst/>
              <a:cxnLst/>
              <a:rect r="r" b="b" t="t" l="l"/>
              <a:pathLst>
                <a:path h="5080762" w="8236585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7918323" y="0"/>
                  </a:lnTo>
                  <a:cubicBezTo>
                    <a:pt x="8094091" y="0"/>
                    <a:pt x="8236585" y="142494"/>
                    <a:pt x="8236585" y="318262"/>
                  </a:cubicBezTo>
                  <a:lnTo>
                    <a:pt x="8236585" y="4762500"/>
                  </a:lnTo>
                  <a:cubicBezTo>
                    <a:pt x="8236585" y="4938268"/>
                    <a:pt x="8094091" y="5080762"/>
                    <a:pt x="7918323" y="5080762"/>
                  </a:cubicBezTo>
                  <a:lnTo>
                    <a:pt x="318262" y="5080762"/>
                  </a:lnTo>
                  <a:cubicBezTo>
                    <a:pt x="142494" y="5080889"/>
                    <a:pt x="0" y="4938395"/>
                    <a:pt x="0" y="476250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356591" y="2990088"/>
            <a:ext cx="5759234" cy="3392424"/>
            <a:chOff x="0" y="0"/>
            <a:chExt cx="7678979" cy="45232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78928" cy="4523232"/>
            </a:xfrm>
            <a:custGeom>
              <a:avLst/>
              <a:gdLst/>
              <a:ahLst/>
              <a:cxnLst/>
              <a:rect r="r" b="b" t="t" l="l"/>
              <a:pathLst>
                <a:path h="4523232" w="7678928">
                  <a:moveTo>
                    <a:pt x="0" y="0"/>
                  </a:moveTo>
                  <a:lnTo>
                    <a:pt x="7678928" y="0"/>
                  </a:lnTo>
                  <a:lnTo>
                    <a:pt x="7678928" y="4523232"/>
                  </a:lnTo>
                  <a:lnTo>
                    <a:pt x="0" y="452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128" y="6673977"/>
            <a:ext cx="1042416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Ten blocks deliberately off the lattice — all ten found, everything else rejected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95760" y="2788920"/>
            <a:ext cx="694944" cy="694944"/>
            <a:chOff x="0" y="0"/>
            <a:chExt cx="926592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795760" y="2958084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3584" y="2778633"/>
            <a:ext cx="4590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73584" y="3254121"/>
            <a:ext cx="4590288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Warm material by red-minus-blue and red-minus-green, never by brightness — the work surface is overexposed, so a brightness cutoff selects the table and not the blocks.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795760" y="4480560"/>
            <a:ext cx="694944" cy="694944"/>
            <a:chOff x="0" y="0"/>
            <a:chExt cx="926592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795760" y="4649724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73584" y="4470273"/>
            <a:ext cx="4590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overlay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73584" y="4945761"/>
            <a:ext cx="4590288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Rejects, then rectifies: duplicates by IoU, boxes running off the frame (the rails), anything further than 0.34 cells from a lattice site (the holder offcuts).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95760" y="6172200"/>
            <a:ext cx="694944" cy="694944"/>
            <a:chOff x="0" y="0"/>
            <a:chExt cx="926592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795760" y="6341364"/>
            <a:ext cx="694944" cy="66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73584" y="6161913"/>
            <a:ext cx="45902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Calibration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73584" y="6637401"/>
            <a:ext cx="4590288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Runs once, deliberately, and is the only layer allowed to write a calibration.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4128" y="7607808"/>
            <a:ext cx="16239744" cy="1874520"/>
            <a:chOff x="0" y="0"/>
            <a:chExt cx="21652992" cy="2499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52993" cy="2499360"/>
            </a:xfrm>
            <a:custGeom>
              <a:avLst/>
              <a:gdLst/>
              <a:ahLst/>
              <a:cxnLst/>
              <a:rect r="r" b="b" t="t" l="l"/>
              <a:pathLst>
                <a:path h="2499360" w="21652993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287232" y="0"/>
                  </a:lnTo>
                  <a:cubicBezTo>
                    <a:pt x="21489290" y="0"/>
                    <a:pt x="21652993" y="163703"/>
                    <a:pt x="21652993" y="365760"/>
                  </a:cubicBezTo>
                  <a:lnTo>
                    <a:pt x="21652993" y="2133600"/>
                  </a:lnTo>
                  <a:cubicBezTo>
                    <a:pt x="21652993" y="2335657"/>
                    <a:pt x="21489290" y="2499360"/>
                    <a:pt x="21287232" y="2499360"/>
                  </a:cubicBezTo>
                  <a:lnTo>
                    <a:pt x="365760" y="2499360"/>
                  </a:lnTo>
                  <a:cubicBezTo>
                    <a:pt x="163703" y="2499360"/>
                    <a:pt x="0" y="2335657"/>
                    <a:pt x="0" y="213360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81328" y="7779639"/>
            <a:ext cx="153619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TWO RULES KEEP THE OVERLAY HONEST — BOTH ASSERTED BY TESTS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1328" y="8309991"/>
            <a:ext cx="15361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measured centre is never snapped to the lattice — snapping would hide the misplaced block the overlay exists to show.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lattice filter never fires on a partial view: under six detections, or if it would reject over 30 % of what it saw, everything is kept.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GRID CALIBRATION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WHERE THE MACHINE'S GRID SITS ON THE CAMERA IMAGE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70468" y="2780986"/>
            <a:ext cx="4673879" cy="2530478"/>
            <a:chOff x="0" y="0"/>
            <a:chExt cx="6231839" cy="3373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31890" cy="3374009"/>
            </a:xfrm>
            <a:custGeom>
              <a:avLst/>
              <a:gdLst/>
              <a:ahLst/>
              <a:cxnLst/>
              <a:rect r="r" b="b" t="t" l="l"/>
              <a:pathLst>
                <a:path h="3374009" w="6231890">
                  <a:moveTo>
                    <a:pt x="0" y="319024"/>
                  </a:moveTo>
                  <a:cubicBezTo>
                    <a:pt x="0" y="142748"/>
                    <a:pt x="142748" y="0"/>
                    <a:pt x="319024" y="0"/>
                  </a:cubicBezTo>
                  <a:lnTo>
                    <a:pt x="5912866" y="0"/>
                  </a:lnTo>
                  <a:cubicBezTo>
                    <a:pt x="6089015" y="0"/>
                    <a:pt x="6231890" y="142748"/>
                    <a:pt x="6231890" y="319024"/>
                  </a:cubicBezTo>
                  <a:lnTo>
                    <a:pt x="6231890" y="3054985"/>
                  </a:lnTo>
                  <a:cubicBezTo>
                    <a:pt x="6231890" y="3231134"/>
                    <a:pt x="6089142" y="3374009"/>
                    <a:pt x="5912866" y="3374009"/>
                  </a:cubicBezTo>
                  <a:lnTo>
                    <a:pt x="319024" y="3374009"/>
                  </a:lnTo>
                  <a:cubicBezTo>
                    <a:pt x="142748" y="3374009"/>
                    <a:pt x="0" y="3231134"/>
                    <a:pt x="0" y="305498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279571" y="2990088"/>
            <a:ext cx="4255665" cy="2112264"/>
            <a:chOff x="0" y="0"/>
            <a:chExt cx="5674220" cy="28163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74233" cy="2816352"/>
            </a:xfrm>
            <a:custGeom>
              <a:avLst/>
              <a:gdLst/>
              <a:ahLst/>
              <a:cxnLst/>
              <a:rect r="r" b="b" t="t" l="l"/>
              <a:pathLst>
                <a:path h="2816352" w="5674233">
                  <a:moveTo>
                    <a:pt x="0" y="0"/>
                  </a:moveTo>
                  <a:lnTo>
                    <a:pt x="5674233" y="0"/>
                  </a:lnTo>
                  <a:lnTo>
                    <a:pt x="5674233" y="2816352"/>
                  </a:lnTo>
                  <a:lnTo>
                    <a:pt x="0" y="2816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128" y="5393817"/>
            <a:ext cx="676656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One fiducial of the printed A2 calibration target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128" y="5621655"/>
            <a:ext cx="67665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FOUR ROUTES, ONE ARTEFACT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128" y="6225540"/>
            <a:ext cx="6766560" cy="314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Four clicked corners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fast fallback.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Printed A2 colour target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primary route.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Evidence-assisted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pools frames when the gantry hides part of the sheet.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Placed-block self-calibration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rig places its own blocks, so the thing measured is the thing being calibrated.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12480" y="2787015"/>
            <a:ext cx="885139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 ACCEPTANCE GATES, NOT STATUS READOUTS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404546" y="3512506"/>
            <a:ext cx="8867270" cy="911990"/>
            <a:chOff x="0" y="0"/>
            <a:chExt cx="11823027" cy="12159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23065" cy="1216025"/>
            </a:xfrm>
            <a:custGeom>
              <a:avLst/>
              <a:gdLst/>
              <a:ahLst/>
              <a:cxnLst/>
              <a:rect r="r" b="b" t="t" l="l"/>
              <a:pathLst>
                <a:path h="1216025" w="11823065">
                  <a:moveTo>
                    <a:pt x="0" y="322580"/>
                  </a:moveTo>
                  <a:cubicBezTo>
                    <a:pt x="0" y="144399"/>
                    <a:pt x="144399" y="0"/>
                    <a:pt x="322580" y="0"/>
                  </a:cubicBezTo>
                  <a:lnTo>
                    <a:pt x="11500485" y="0"/>
                  </a:lnTo>
                  <a:cubicBezTo>
                    <a:pt x="11678666" y="0"/>
                    <a:pt x="11823065" y="144399"/>
                    <a:pt x="11823065" y="322580"/>
                  </a:cubicBezTo>
                  <a:lnTo>
                    <a:pt x="11823065" y="893445"/>
                  </a:lnTo>
                  <a:cubicBezTo>
                    <a:pt x="11823065" y="1071626"/>
                    <a:pt x="11678666" y="1216025"/>
                    <a:pt x="11500485" y="1216025"/>
                  </a:cubicBezTo>
                  <a:lnTo>
                    <a:pt x="322580" y="1216025"/>
                  </a:lnTo>
                  <a:cubicBezTo>
                    <a:pt x="144399" y="1216025"/>
                    <a:pt x="0" y="1071499"/>
                    <a:pt x="0" y="89344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705088" y="3657219"/>
            <a:ext cx="4114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Colour parity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0200" y="3684270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every fiducial the right way round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404546" y="4536634"/>
            <a:ext cx="8867270" cy="911990"/>
            <a:chOff x="0" y="0"/>
            <a:chExt cx="11823027" cy="12159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23065" cy="1216025"/>
            </a:xfrm>
            <a:custGeom>
              <a:avLst/>
              <a:gdLst/>
              <a:ahLst/>
              <a:cxnLst/>
              <a:rect r="r" b="b" t="t" l="l"/>
              <a:pathLst>
                <a:path h="1216025" w="11823065">
                  <a:moveTo>
                    <a:pt x="0" y="322580"/>
                  </a:moveTo>
                  <a:cubicBezTo>
                    <a:pt x="0" y="144399"/>
                    <a:pt x="144399" y="0"/>
                    <a:pt x="322580" y="0"/>
                  </a:cubicBezTo>
                  <a:lnTo>
                    <a:pt x="11500485" y="0"/>
                  </a:lnTo>
                  <a:cubicBezTo>
                    <a:pt x="11678666" y="0"/>
                    <a:pt x="11823065" y="144399"/>
                    <a:pt x="11823065" y="322580"/>
                  </a:cubicBezTo>
                  <a:lnTo>
                    <a:pt x="11823065" y="893445"/>
                  </a:lnTo>
                  <a:cubicBezTo>
                    <a:pt x="11823065" y="1071626"/>
                    <a:pt x="11678666" y="1216025"/>
                    <a:pt x="11500485" y="1216025"/>
                  </a:cubicBezTo>
                  <a:lnTo>
                    <a:pt x="322580" y="1216025"/>
                  </a:lnTo>
                  <a:cubicBezTo>
                    <a:pt x="144399" y="1216025"/>
                    <a:pt x="0" y="1071499"/>
                    <a:pt x="0" y="89344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705088" y="4681347"/>
            <a:ext cx="4114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Measured aspect ratio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30200" y="4708398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against the declared geometry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04546" y="5560762"/>
            <a:ext cx="8867270" cy="911990"/>
            <a:chOff x="0" y="0"/>
            <a:chExt cx="11823027" cy="12159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23065" cy="1216025"/>
            </a:xfrm>
            <a:custGeom>
              <a:avLst/>
              <a:gdLst/>
              <a:ahLst/>
              <a:cxnLst/>
              <a:rect r="r" b="b" t="t" l="l"/>
              <a:pathLst>
                <a:path h="1216025" w="11823065">
                  <a:moveTo>
                    <a:pt x="0" y="322580"/>
                  </a:moveTo>
                  <a:cubicBezTo>
                    <a:pt x="0" y="144399"/>
                    <a:pt x="144399" y="0"/>
                    <a:pt x="322580" y="0"/>
                  </a:cubicBezTo>
                  <a:lnTo>
                    <a:pt x="11500485" y="0"/>
                  </a:lnTo>
                  <a:cubicBezTo>
                    <a:pt x="11678666" y="0"/>
                    <a:pt x="11823065" y="144399"/>
                    <a:pt x="11823065" y="322580"/>
                  </a:cubicBezTo>
                  <a:lnTo>
                    <a:pt x="11823065" y="893445"/>
                  </a:lnTo>
                  <a:cubicBezTo>
                    <a:pt x="11823065" y="1071626"/>
                    <a:pt x="11678666" y="1216025"/>
                    <a:pt x="11500485" y="1216025"/>
                  </a:cubicBezTo>
                  <a:lnTo>
                    <a:pt x="322580" y="1216025"/>
                  </a:lnTo>
                  <a:cubicBezTo>
                    <a:pt x="144399" y="1216025"/>
                    <a:pt x="0" y="1071499"/>
                    <a:pt x="0" y="89344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705088" y="5705475"/>
            <a:ext cx="4114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Mean and maximum residual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30200" y="573252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both must pass, not just be reported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404546" y="6584890"/>
            <a:ext cx="8867270" cy="911990"/>
            <a:chOff x="0" y="0"/>
            <a:chExt cx="11823027" cy="12159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23065" cy="1216025"/>
            </a:xfrm>
            <a:custGeom>
              <a:avLst/>
              <a:gdLst/>
              <a:ahLst/>
              <a:cxnLst/>
              <a:rect r="r" b="b" t="t" l="l"/>
              <a:pathLst>
                <a:path h="1216025" w="11823065">
                  <a:moveTo>
                    <a:pt x="0" y="322580"/>
                  </a:moveTo>
                  <a:cubicBezTo>
                    <a:pt x="0" y="144399"/>
                    <a:pt x="144399" y="0"/>
                    <a:pt x="322580" y="0"/>
                  </a:cubicBezTo>
                  <a:lnTo>
                    <a:pt x="11500485" y="0"/>
                  </a:lnTo>
                  <a:cubicBezTo>
                    <a:pt x="11678666" y="0"/>
                    <a:pt x="11823065" y="144399"/>
                    <a:pt x="11823065" y="322580"/>
                  </a:cubicBezTo>
                  <a:lnTo>
                    <a:pt x="11823065" y="893445"/>
                  </a:lnTo>
                  <a:cubicBezTo>
                    <a:pt x="11823065" y="1071626"/>
                    <a:pt x="11678666" y="1216025"/>
                    <a:pt x="11500485" y="1216025"/>
                  </a:cubicBezTo>
                  <a:lnTo>
                    <a:pt x="322580" y="1216025"/>
                  </a:lnTo>
                  <a:cubicBezTo>
                    <a:pt x="144399" y="1216025"/>
                    <a:pt x="0" y="1071499"/>
                    <a:pt x="0" y="89344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8705088" y="6729603"/>
            <a:ext cx="4114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≥ 95 % physical coverage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30200" y="6756654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every row and column supported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404546" y="7609018"/>
            <a:ext cx="8867270" cy="911990"/>
            <a:chOff x="0" y="0"/>
            <a:chExt cx="11823027" cy="12159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23065" cy="1216025"/>
            </a:xfrm>
            <a:custGeom>
              <a:avLst/>
              <a:gdLst/>
              <a:ahLst/>
              <a:cxnLst/>
              <a:rect r="r" b="b" t="t" l="l"/>
              <a:pathLst>
                <a:path h="1216025" w="11823065">
                  <a:moveTo>
                    <a:pt x="0" y="322580"/>
                  </a:moveTo>
                  <a:cubicBezTo>
                    <a:pt x="0" y="144399"/>
                    <a:pt x="144399" y="0"/>
                    <a:pt x="322580" y="0"/>
                  </a:cubicBezTo>
                  <a:lnTo>
                    <a:pt x="11500485" y="0"/>
                  </a:lnTo>
                  <a:cubicBezTo>
                    <a:pt x="11678666" y="0"/>
                    <a:pt x="11823065" y="144399"/>
                    <a:pt x="11823065" y="322580"/>
                  </a:cubicBezTo>
                  <a:lnTo>
                    <a:pt x="11823065" y="893445"/>
                  </a:lnTo>
                  <a:cubicBezTo>
                    <a:pt x="11823065" y="1071626"/>
                    <a:pt x="11678666" y="1216025"/>
                    <a:pt x="11500485" y="1216025"/>
                  </a:cubicBezTo>
                  <a:lnTo>
                    <a:pt x="322580" y="1216025"/>
                  </a:lnTo>
                  <a:cubicBezTo>
                    <a:pt x="144399" y="1216025"/>
                    <a:pt x="0" y="1071499"/>
                    <a:pt x="0" y="89344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8705088" y="7753731"/>
            <a:ext cx="4114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Numerical conditioning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30200" y="7780782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gate at 1e−5, inside a 30-order gap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412480" y="8641080"/>
            <a:ext cx="8851392" cy="841248"/>
            <a:chOff x="0" y="0"/>
            <a:chExt cx="11801856" cy="11216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01856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801856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11484864" y="0"/>
                  </a:lnTo>
                  <a:cubicBezTo>
                    <a:pt x="11659870" y="0"/>
                    <a:pt x="11801856" y="141859"/>
                    <a:pt x="11801856" y="316992"/>
                  </a:cubicBezTo>
                  <a:lnTo>
                    <a:pt x="11801856" y="804672"/>
                  </a:lnTo>
                  <a:cubicBezTo>
                    <a:pt x="11801856" y="979678"/>
                    <a:pt x="11659997" y="1121664"/>
                    <a:pt x="11484864" y="1121664"/>
                  </a:cubicBezTo>
                  <a:lnTo>
                    <a:pt x="316992" y="1121664"/>
                  </a:lnTo>
                  <a:cubicBezTo>
                    <a:pt x="141859" y="1121664"/>
                    <a:pt x="0" y="979805"/>
                    <a:pt x="0" y="804672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705088" y="8795385"/>
            <a:ext cx="82296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refusal still draws what it found — green for blobs that joined a lattice, red for those that did not.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CONTROL HIERARCHY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PI DECIDES WHETHER; EACH ARDUINO DECIDES HOW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4128" y="2880360"/>
            <a:ext cx="7818120" cy="3977640"/>
            <a:chOff x="0" y="0"/>
            <a:chExt cx="10424160" cy="5303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160" cy="5303520"/>
            </a:xfrm>
            <a:custGeom>
              <a:avLst/>
              <a:gdLst/>
              <a:ahLst/>
              <a:cxnLst/>
              <a:rect r="r" b="b" t="t" l="l"/>
              <a:pathLst>
                <a:path h="5303520" w="1042416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0034016" y="0"/>
                  </a:lnTo>
                  <a:cubicBezTo>
                    <a:pt x="10249535" y="0"/>
                    <a:pt x="10424160" y="174625"/>
                    <a:pt x="10424160" y="390144"/>
                  </a:cubicBezTo>
                  <a:lnTo>
                    <a:pt x="10424160" y="4913376"/>
                  </a:lnTo>
                  <a:cubicBezTo>
                    <a:pt x="10424160" y="5128895"/>
                    <a:pt x="10249535" y="5303520"/>
                    <a:pt x="10034016" y="5303520"/>
                  </a:cubicBezTo>
                  <a:lnTo>
                    <a:pt x="390144" y="5303520"/>
                  </a:lnTo>
                  <a:cubicBezTo>
                    <a:pt x="174625" y="5303520"/>
                    <a:pt x="0" y="5128895"/>
                    <a:pt x="0" y="491337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7048" y="3152775"/>
            <a:ext cx="67665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 LEVEL · RASPBERRY 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7048" y="3838575"/>
            <a:ext cx="6766560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Chooses the target cell, the stack level and the grid mode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Sequences the feeder before the gantry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Applies every safety gate and owns the session lock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Decides whether a command may be issued at all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Never sends a motor step, a direction bit or a delay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37818" y="2872426"/>
            <a:ext cx="7833998" cy="3993518"/>
            <a:chOff x="0" y="0"/>
            <a:chExt cx="10445331" cy="53246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5369" cy="5324729"/>
            </a:xfrm>
            <a:custGeom>
              <a:avLst/>
              <a:gdLst/>
              <a:ahLst/>
              <a:cxnLst/>
              <a:rect r="r" b="b" t="t" l="l"/>
              <a:pathLst>
                <a:path h="5324729" w="10445369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10127107" y="0"/>
                  </a:lnTo>
                  <a:cubicBezTo>
                    <a:pt x="10302875" y="0"/>
                    <a:pt x="10445369" y="142494"/>
                    <a:pt x="10445369" y="318262"/>
                  </a:cubicBezTo>
                  <a:lnTo>
                    <a:pt x="10445369" y="5006467"/>
                  </a:lnTo>
                  <a:cubicBezTo>
                    <a:pt x="10445369" y="5182235"/>
                    <a:pt x="10302875" y="5324729"/>
                    <a:pt x="10127107" y="5324729"/>
                  </a:cubicBezTo>
                  <a:lnTo>
                    <a:pt x="318262" y="5324729"/>
                  </a:lnTo>
                  <a:cubicBezTo>
                    <a:pt x="142494" y="5324729"/>
                    <a:pt x="0" y="5182235"/>
                    <a:pt x="0" y="500646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48672" y="3152775"/>
            <a:ext cx="67665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LOW LEVEL · MEGA AND UNO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8672" y="3838575"/>
            <a:ext cx="6766560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Step generation, direction polarity, homing, limits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grid-to-steps arithmetic for both modes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Servo and stepper timing, the phase sequence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feed state machine, belt rate, sensor thresholds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Everything that cannot change without reflashing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4128" y="7223760"/>
            <a:ext cx="16239744" cy="2258568"/>
            <a:chOff x="0" y="0"/>
            <a:chExt cx="21652992" cy="30114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52992" cy="3011424"/>
            </a:xfrm>
            <a:custGeom>
              <a:avLst/>
              <a:gdLst/>
              <a:ahLst/>
              <a:cxnLst/>
              <a:rect r="r" b="b" t="t" l="l"/>
              <a:pathLst>
                <a:path h="3011424" w="21652992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21262848" y="0"/>
                  </a:lnTo>
                  <a:cubicBezTo>
                    <a:pt x="21478367" y="0"/>
                    <a:pt x="21652992" y="174625"/>
                    <a:pt x="21652992" y="390144"/>
                  </a:cubicBezTo>
                  <a:lnTo>
                    <a:pt x="21652992" y="2621280"/>
                  </a:lnTo>
                  <a:cubicBezTo>
                    <a:pt x="21652992" y="2836799"/>
                    <a:pt x="21478367" y="3011424"/>
                    <a:pt x="21262848" y="3011424"/>
                  </a:cubicBezTo>
                  <a:lnTo>
                    <a:pt x="390144" y="3011424"/>
                  </a:lnTo>
                  <a:cubicBezTo>
                    <a:pt x="174625" y="3011424"/>
                    <a:pt x="0" y="2836799"/>
                    <a:pt x="0" y="262128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27048" y="7432167"/>
            <a:ext cx="1527048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THE BOUNDARY IS DRAWN THERE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7048" y="8017383"/>
            <a:ext cx="1527048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firmware owns the step caps, the Z calibration, the servo angles, the pin map and the direction polarity — physical facts nothing can push over serial, so a stale copy on the Pi would be a lie nobody notices until the rig drives into something. A handful of values genuinely exist twice, and an automated test parses the live sketch and fails if either side has moved.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ACKNOWLEDGEMENT PROTOCOL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LINE FOR THE HUMAN, ONE LINE FOR THE PI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826706"/>
            <a:ext cx="7833998" cy="2347598"/>
            <a:chOff x="0" y="0"/>
            <a:chExt cx="10445331" cy="3130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5369" cy="3130169"/>
            </a:xfrm>
            <a:custGeom>
              <a:avLst/>
              <a:gdLst/>
              <a:ahLst/>
              <a:cxnLst/>
              <a:rect r="r" b="b" t="t" l="l"/>
              <a:pathLst>
                <a:path h="3130169" w="10445369">
                  <a:moveTo>
                    <a:pt x="0" y="319151"/>
                  </a:moveTo>
                  <a:cubicBezTo>
                    <a:pt x="0" y="142875"/>
                    <a:pt x="142875" y="0"/>
                    <a:pt x="319151" y="0"/>
                  </a:cubicBezTo>
                  <a:lnTo>
                    <a:pt x="10126218" y="0"/>
                  </a:lnTo>
                  <a:cubicBezTo>
                    <a:pt x="10302494" y="0"/>
                    <a:pt x="10445369" y="142875"/>
                    <a:pt x="10445369" y="319151"/>
                  </a:cubicBezTo>
                  <a:lnTo>
                    <a:pt x="10445369" y="2811018"/>
                  </a:lnTo>
                  <a:cubicBezTo>
                    <a:pt x="10445369" y="2987294"/>
                    <a:pt x="10302494" y="3130169"/>
                    <a:pt x="10126218" y="3130169"/>
                  </a:cubicBezTo>
                  <a:lnTo>
                    <a:pt x="319151" y="3130169"/>
                  </a:lnTo>
                  <a:cubicBezTo>
                    <a:pt x="142875" y="3130169"/>
                    <a:pt x="0" y="2987294"/>
                    <a:pt x="0" y="2811018"/>
                  </a:cubicBezTo>
                  <a:close/>
                </a:path>
              </a:pathLst>
            </a:custGeom>
            <a:solidFill>
              <a:srgbClr val="1B2230"/>
            </a:solidFill>
            <a:ln w="15875" cap="sq">
              <a:solidFill>
                <a:srgbClr val="1B223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08176" y="3089148"/>
            <a:ext cx="704088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00">
                <a:solidFill>
                  <a:srgbClr val="D8DEE9"/>
                </a:solidFill>
                <a:latin typeface="Courier New"/>
                <a:ea typeface="Courier New"/>
                <a:cs typeface="Courier New"/>
                <a:sym typeface="Courier New"/>
              </a:rPr>
              <a:t>BUILD COMPLETE - block placed at [3,5] level 0</a:t>
            </a:r>
          </a:p>
          <a:p>
            <a:pPr algn="l">
              <a:lnSpc>
                <a:spcPts val="2465"/>
              </a:lnSpc>
            </a:pPr>
            <a:r>
              <a:rPr lang="en-US" sz="1700">
                <a:solidFill>
                  <a:srgbClr val="D8DEE9"/>
                </a:solidFill>
                <a:latin typeface="Courier New"/>
                <a:ea typeface="Courier New"/>
                <a:cs typeface="Courier New"/>
                <a:sym typeface="Courier New"/>
              </a:rPr>
              <a:t>Place time: 31.6s</a:t>
            </a:r>
          </a:p>
          <a:p>
            <a:pPr algn="l">
              <a:lnSpc>
                <a:spcPts val="2465"/>
              </a:lnSpc>
            </a:pPr>
            <a:r>
              <a:rPr lang="en-US" sz="1700" b="true">
                <a:solidFill>
                  <a:srgbClr val="7FE0A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@12 OK col=3 row=5 level=0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5256657"/>
            <a:ext cx="781812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Every machine line starts with @ — a character no other line in either sketch begins with, so the Pi's filter is one string test. Key=value and not JSON because on an 8 KB AVR at 9600 baud braces and quotes cost SRAM and airtime for nothing.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5752" y="2787015"/>
            <a:ext cx="78181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EIGHT KINDS · FOUR OF THEM TERMINAL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45752" y="3474720"/>
            <a:ext cx="1847088" cy="749808"/>
            <a:chOff x="0" y="0"/>
            <a:chExt cx="2462784" cy="9997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45752" y="3648075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BOOT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448288" y="3474720"/>
            <a:ext cx="1847088" cy="749808"/>
            <a:chOff x="0" y="0"/>
            <a:chExt cx="2462784" cy="9997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448288" y="3648075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READY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450824" y="3474720"/>
            <a:ext cx="1847088" cy="749808"/>
            <a:chOff x="0" y="0"/>
            <a:chExt cx="2462784" cy="9997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450824" y="3648075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RECV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53360" y="3474720"/>
            <a:ext cx="1847088" cy="749808"/>
            <a:chOff x="0" y="0"/>
            <a:chExt cx="2462784" cy="9997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453360" y="3648075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STEP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45752" y="4407408"/>
            <a:ext cx="1847088" cy="749808"/>
            <a:chOff x="0" y="0"/>
            <a:chExt cx="2462784" cy="9997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445752" y="4580763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48288" y="4407408"/>
            <a:ext cx="1847088" cy="749808"/>
            <a:chOff x="0" y="0"/>
            <a:chExt cx="2462784" cy="9997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448288" y="4580763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SAFE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450824" y="4407408"/>
            <a:ext cx="1847088" cy="749808"/>
            <a:chOff x="0" y="0"/>
            <a:chExt cx="2462784" cy="9997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450824" y="4580763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HELD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453360" y="4407408"/>
            <a:ext cx="1847088" cy="749808"/>
            <a:chOff x="0" y="0"/>
            <a:chExt cx="2462784" cy="9997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62784" cy="999744"/>
            </a:xfrm>
            <a:custGeom>
              <a:avLst/>
              <a:gdLst/>
              <a:ahLst/>
              <a:cxnLst/>
              <a:rect r="r" b="b" t="t" l="l"/>
              <a:pathLst>
                <a:path h="999744" w="246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43328" y="0"/>
                  </a:lnTo>
                  <a:cubicBezTo>
                    <a:pt x="2364486" y="0"/>
                    <a:pt x="2462784" y="98298"/>
                    <a:pt x="2462784" y="219456"/>
                  </a:cubicBezTo>
                  <a:lnTo>
                    <a:pt x="2462784" y="780288"/>
                  </a:lnTo>
                  <a:cubicBezTo>
                    <a:pt x="2462784" y="901446"/>
                    <a:pt x="2364486" y="999744"/>
                    <a:pt x="2243328" y="999744"/>
                  </a:cubicBezTo>
                  <a:lnTo>
                    <a:pt x="219456" y="999744"/>
                  </a:lnTo>
                  <a:cubicBezTo>
                    <a:pt x="98298" y="999744"/>
                    <a:pt x="0" y="901446"/>
                    <a:pt x="0" y="78028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5453360" y="4580763"/>
            <a:ext cx="1847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45752" y="5366385"/>
            <a:ext cx="781812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Filled = terminal. Exactly one terminal acknowledgement per command.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24128" y="6126480"/>
            <a:ext cx="7818120" cy="2212848"/>
            <a:chOff x="0" y="0"/>
            <a:chExt cx="10424160" cy="29504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24160" cy="2950464"/>
            </a:xfrm>
            <a:custGeom>
              <a:avLst/>
              <a:gdLst/>
              <a:ahLst/>
              <a:cxnLst/>
              <a:rect r="r" b="b" t="t" l="l"/>
              <a:pathLst>
                <a:path h="2950464" w="1042416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0034016" y="0"/>
                  </a:lnTo>
                  <a:cubicBezTo>
                    <a:pt x="10249535" y="0"/>
                    <a:pt x="10424160" y="174625"/>
                    <a:pt x="10424160" y="390144"/>
                  </a:cubicBezTo>
                  <a:lnTo>
                    <a:pt x="10424160" y="2560320"/>
                  </a:lnTo>
                  <a:cubicBezTo>
                    <a:pt x="10424160" y="2775839"/>
                    <a:pt x="10249535" y="2950464"/>
                    <a:pt x="10034016" y="2950464"/>
                  </a:cubicBezTo>
                  <a:lnTo>
                    <a:pt x="390144" y="2950464"/>
                  </a:lnTo>
                  <a:cubicBezTo>
                    <a:pt x="174625" y="2950464"/>
                    <a:pt x="0" y="2775839"/>
                    <a:pt x="0" y="256032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81328" y="6325362"/>
            <a:ext cx="69494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SAFE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81328" y="6947535"/>
            <a:ext cx="69037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Refused on validation. Nothing moved, and a retry is fine.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445752" y="6126480"/>
            <a:ext cx="7818120" cy="2212848"/>
            <a:chOff x="0" y="0"/>
            <a:chExt cx="10424160" cy="29504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24160" cy="2950464"/>
            </a:xfrm>
            <a:custGeom>
              <a:avLst/>
              <a:gdLst/>
              <a:ahLst/>
              <a:cxnLst/>
              <a:rect r="r" b="b" t="t" l="l"/>
              <a:pathLst>
                <a:path h="2950464" w="10424160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10034016" y="0"/>
                  </a:lnTo>
                  <a:cubicBezTo>
                    <a:pt x="10249535" y="0"/>
                    <a:pt x="10424160" y="174625"/>
                    <a:pt x="10424160" y="390144"/>
                  </a:cubicBezTo>
                  <a:lnTo>
                    <a:pt x="10424160" y="2560320"/>
                  </a:lnTo>
                  <a:cubicBezTo>
                    <a:pt x="10424160" y="2775839"/>
                    <a:pt x="10249535" y="2950464"/>
                    <a:pt x="10034016" y="2950464"/>
                  </a:cubicBezTo>
                  <a:lnTo>
                    <a:pt x="390144" y="2950464"/>
                  </a:lnTo>
                  <a:cubicBezTo>
                    <a:pt x="174625" y="2950464"/>
                    <a:pt x="0" y="2775839"/>
                    <a:pt x="0" y="2560320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02952" y="6325362"/>
            <a:ext cx="69494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HELD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02952" y="6947535"/>
            <a:ext cx="69037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899">
                <a:solidFill>
                  <a:srgbClr val="D9E1F8"/>
                </a:solidFill>
                <a:latin typeface="Poppins"/>
                <a:ea typeface="Poppins"/>
                <a:cs typeface="Poppins"/>
                <a:sym typeface="Poppins"/>
              </a:rPr>
              <a:t>Failed part way through. The claw may still be gripping a block and the position is unknown. It needs a person.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4128" y="8602980"/>
            <a:ext cx="16239744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8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They are separate kinds rather than a flag, so that Pi-side code cannot collapse them into a generic “if not ok: retry”. The retry is the thing that breaks the machine.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FOURTEEN-PHASE BUILD CYCLE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EVERY PHASE ANNOUNCED BEFORE IT RUNS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4603" y="2870835"/>
            <a:ext cx="7837170" cy="732282"/>
            <a:chOff x="0" y="0"/>
            <a:chExt cx="10449560" cy="976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71800"/>
            <a:ext cx="530352" cy="530352"/>
            <a:chOff x="0" y="0"/>
            <a:chExt cx="707136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308851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8800" y="297141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raise_clear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27448" y="298932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Raise Z into the top switch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14603" y="3693795"/>
            <a:ext cx="7837170" cy="732282"/>
            <a:chOff x="0" y="0"/>
            <a:chExt cx="10449560" cy="976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3794760"/>
            <a:ext cx="530352" cy="530352"/>
            <a:chOff x="0" y="0"/>
            <a:chExt cx="707136" cy="707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3000" y="391147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8800" y="379437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home_feeder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27448" y="381228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Home X/Y to the feeder cell [0,0]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14603" y="4516755"/>
            <a:ext cx="7837170" cy="732282"/>
            <a:chOff x="0" y="0"/>
            <a:chExt cx="10449560" cy="976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43000" y="4617720"/>
            <a:ext cx="530352" cy="530352"/>
            <a:chOff x="0" y="0"/>
            <a:chExt cx="707136" cy="7071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B25C0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3000" y="473443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8800" y="461733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25C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neutralise_claw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27448" y="463524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Return the claw to neutral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14603" y="5339715"/>
            <a:ext cx="7837170" cy="732282"/>
            <a:chOff x="0" y="0"/>
            <a:chExt cx="10449560" cy="9763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43000" y="5440680"/>
            <a:ext cx="530352" cy="530352"/>
            <a:chOff x="0" y="0"/>
            <a:chExt cx="707136" cy="707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0E7C5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43000" y="555739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28800" y="544029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E7C5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open_claw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27448" y="545820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Open the jaws, still clear above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14603" y="6162675"/>
            <a:ext cx="7837170" cy="732282"/>
            <a:chOff x="0" y="0"/>
            <a:chExt cx="10449560" cy="976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43000" y="6263640"/>
            <a:ext cx="530352" cy="530352"/>
            <a:chOff x="0" y="0"/>
            <a:chExt cx="707136" cy="7071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43000" y="638035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28800" y="626325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lower_to_ground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27448" y="628116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Lower Z into the bottom switch — re-zeroes Z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14603" y="6985635"/>
            <a:ext cx="7837170" cy="732282"/>
            <a:chOff x="0" y="0"/>
            <a:chExt cx="10449560" cy="9763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43000" y="7086600"/>
            <a:ext cx="530352" cy="530352"/>
            <a:chOff x="0" y="0"/>
            <a:chExt cx="707136" cy="7071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0E7C5A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143000" y="720331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28800" y="708621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E7C5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grip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727448" y="710412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Close the claw. The block is held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14603" y="7808595"/>
            <a:ext cx="7837170" cy="732282"/>
            <a:chOff x="0" y="0"/>
            <a:chExt cx="10449560" cy="9763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43000" y="7909560"/>
            <a:ext cx="530352" cy="530352"/>
            <a:chOff x="0" y="0"/>
            <a:chExt cx="707136" cy="7071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143000" y="802627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828800" y="790917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lift_block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727448" y="792708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Raise Z to carry height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289923" y="2870835"/>
            <a:ext cx="7837170" cy="732282"/>
            <a:chOff x="0" y="0"/>
            <a:chExt cx="10449560" cy="97637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418320" y="2971800"/>
            <a:ext cx="530352" cy="530352"/>
            <a:chOff x="0" y="0"/>
            <a:chExt cx="707136" cy="7071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9418320" y="308851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104120" y="297141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move_to_target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002768" y="298932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Home, then Y to the row, X to the column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289923" y="3693795"/>
            <a:ext cx="7837170" cy="732282"/>
            <a:chOff x="0" y="0"/>
            <a:chExt cx="10449560" cy="9763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418320" y="3794760"/>
            <a:ext cx="530352" cy="530352"/>
            <a:chOff x="0" y="0"/>
            <a:chExt cx="707136" cy="7071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B25C00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418320" y="391147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104120" y="379437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25C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rotate_to_grid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002768" y="381228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Apply the active grid's rotation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289923" y="4516755"/>
            <a:ext cx="7837170" cy="732282"/>
            <a:chOff x="0" y="0"/>
            <a:chExt cx="10449560" cy="97637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418320" y="4617720"/>
            <a:ext cx="530352" cy="530352"/>
            <a:chOff x="0" y="0"/>
            <a:chExt cx="707136" cy="7071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9418320" y="473443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104120" y="461733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lower_to_level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002768" y="463524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Lower Z to the target level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289923" y="5339715"/>
            <a:ext cx="7837170" cy="732282"/>
            <a:chOff x="0" y="0"/>
            <a:chExt cx="10449560" cy="97637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EEF1F8"/>
            </a:solidFill>
            <a:ln w="19050" cap="sq">
              <a:solidFill>
                <a:srgbClr val="1E40AF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418320" y="5440680"/>
            <a:ext cx="530352" cy="530352"/>
            <a:chOff x="0" y="0"/>
            <a:chExt cx="707136" cy="7071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0E7C5A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9418320" y="555739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104120" y="544029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E7C5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release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002768" y="545820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Open the claw. The block is placed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9289923" y="6162675"/>
            <a:ext cx="7837170" cy="732282"/>
            <a:chOff x="0" y="0"/>
            <a:chExt cx="10449560" cy="97637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418320" y="6263640"/>
            <a:ext cx="530352" cy="530352"/>
            <a:chOff x="0" y="0"/>
            <a:chExt cx="707136" cy="7071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5A6170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9418320" y="638035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104120" y="626325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A617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park_clear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002768" y="628116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Raise Z clear of the block just placed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289923" y="6985635"/>
            <a:ext cx="7837170" cy="732282"/>
            <a:chOff x="0" y="0"/>
            <a:chExt cx="10449560" cy="97637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418320" y="7086600"/>
            <a:ext cx="530352" cy="530352"/>
            <a:chOff x="0" y="0"/>
            <a:chExt cx="707136" cy="7071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5A6170"/>
            </a:solid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9418320" y="720331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104120" y="708621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A617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park_home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002768" y="710412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Return X and Y to the origin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9289923" y="7808595"/>
            <a:ext cx="7837170" cy="732282"/>
            <a:chOff x="0" y="0"/>
            <a:chExt cx="10449560" cy="97637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449561" cy="976376"/>
            </a:xfrm>
            <a:custGeom>
              <a:avLst/>
              <a:gdLst/>
              <a:ahLst/>
              <a:cxnLst/>
              <a:rect r="r" b="b" t="t" l="l"/>
              <a:pathLst>
                <a:path h="976376" w="10449561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lnTo>
                    <a:pt x="10249281" y="0"/>
                  </a:lnTo>
                  <a:cubicBezTo>
                    <a:pt x="10359899" y="0"/>
                    <a:pt x="10449561" y="89662"/>
                    <a:pt x="10449561" y="200279"/>
                  </a:cubicBezTo>
                  <a:lnTo>
                    <a:pt x="10449561" y="776097"/>
                  </a:lnTo>
                  <a:cubicBezTo>
                    <a:pt x="10449561" y="886714"/>
                    <a:pt x="10359899" y="976376"/>
                    <a:pt x="10249281" y="976376"/>
                  </a:cubicBezTo>
                  <a:lnTo>
                    <a:pt x="200279" y="976376"/>
                  </a:lnTo>
                  <a:cubicBezTo>
                    <a:pt x="89662" y="976376"/>
                    <a:pt x="0" y="886714"/>
                    <a:pt x="0" y="776097"/>
                  </a:cubicBezTo>
                  <a:close/>
                </a:path>
              </a:pathLst>
            </a:custGeom>
            <a:solidFill>
              <a:srgbClr val="F5F7FB"/>
            </a:solidFill>
            <a:ln w="19050" cap="sq">
              <a:solidFill>
                <a:srgbClr val="E3E6EC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9418320" y="7909560"/>
            <a:ext cx="530352" cy="530352"/>
            <a:chOff x="0" y="0"/>
            <a:chExt cx="707136" cy="70713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5A6170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9418320" y="802627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104120" y="7909179"/>
            <a:ext cx="27889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A617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park_rotation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002768" y="7927086"/>
            <a:ext cx="39776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Return the claw to neutral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024128" y="8796528"/>
            <a:ext cx="16239744" cy="822960"/>
            <a:chOff x="0" y="0"/>
            <a:chExt cx="21652992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652992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652992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1384768" y="0"/>
                  </a:lnTo>
                  <a:cubicBezTo>
                    <a:pt x="21532850" y="0"/>
                    <a:pt x="21652992" y="120142"/>
                    <a:pt x="21652992" y="268224"/>
                  </a:cubicBezTo>
                  <a:lnTo>
                    <a:pt x="21652992" y="829056"/>
                  </a:lnTo>
                  <a:cubicBezTo>
                    <a:pt x="21652992" y="977138"/>
                    <a:pt x="21532850" y="1097280"/>
                    <a:pt x="21384768" y="1097280"/>
                  </a:cubicBezTo>
                  <a:lnTo>
                    <a:pt x="268224" y="1097280"/>
                  </a:lnTo>
                  <a:cubicBezTo>
                    <a:pt x="120142" y="1097280"/>
                    <a:pt x="0" y="977138"/>
                    <a:pt x="0" y="829056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06" id="106"/>
          <p:cNvSpPr txBox="true"/>
          <p:nvPr/>
        </p:nvSpPr>
        <p:spPr>
          <a:xfrm rot="0">
            <a:off x="1435608" y="8941308"/>
            <a:ext cx="1545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Phases 1–11 place the block; 12–14 park the rig. Parking is not decoration — placed but not parked is not a success, and the terminal result is downgraded from OK to HELD.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MESSAGE AUTHORISES MOTION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TWO-BOARD HANDOFF, AND THE FIVE LAYERS ABOVE 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826706"/>
            <a:ext cx="9479918" cy="6663566"/>
            <a:chOff x="0" y="0"/>
            <a:chExt cx="12639891" cy="88847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39929" cy="8884793"/>
            </a:xfrm>
            <a:custGeom>
              <a:avLst/>
              <a:gdLst/>
              <a:ahLst/>
              <a:cxnLst/>
              <a:rect r="r" b="b" t="t" l="l"/>
              <a:pathLst>
                <a:path h="8884793" w="12639929">
                  <a:moveTo>
                    <a:pt x="0" y="317754"/>
                  </a:moveTo>
                  <a:cubicBezTo>
                    <a:pt x="0" y="142240"/>
                    <a:pt x="142240" y="0"/>
                    <a:pt x="317754" y="0"/>
                  </a:cubicBezTo>
                  <a:lnTo>
                    <a:pt x="12322175" y="0"/>
                  </a:lnTo>
                  <a:cubicBezTo>
                    <a:pt x="12497689" y="0"/>
                    <a:pt x="12639929" y="142240"/>
                    <a:pt x="12639929" y="317754"/>
                  </a:cubicBezTo>
                  <a:lnTo>
                    <a:pt x="12639929" y="8567039"/>
                  </a:lnTo>
                  <a:cubicBezTo>
                    <a:pt x="12639929" y="8742553"/>
                    <a:pt x="12497689" y="8884793"/>
                    <a:pt x="12322175" y="8884793"/>
                  </a:cubicBezTo>
                  <a:lnTo>
                    <a:pt x="317754" y="8884793"/>
                  </a:lnTo>
                  <a:cubicBezTo>
                    <a:pt x="142240" y="8884793"/>
                    <a:pt x="0" y="8742553"/>
                    <a:pt x="0" y="8567039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35608" y="3079623"/>
            <a:ext cx="85953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HANDOFF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608" y="3785235"/>
            <a:ext cx="21488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Pi › Uno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1608" y="3785235"/>
            <a:ext cx="6400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Courier New"/>
                <a:ea typeface="Courier New"/>
                <a:cs typeface="Courier New"/>
                <a:sym typeface="Courier New"/>
              </a:rPr>
              <a:t>FEED &lt;id&gt;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608" y="4352163"/>
            <a:ext cx="21488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Uno › 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21608" y="4352163"/>
            <a:ext cx="6400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Courier New"/>
                <a:ea typeface="Courier New"/>
                <a:cs typeface="Courier New"/>
                <a:sym typeface="Courier New"/>
              </a:rPr>
              <a:t>@id RECV / ACK / STATE / SENSOR / EVENT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5608" y="4919091"/>
            <a:ext cx="21488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Uno › 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21608" y="4919091"/>
            <a:ext cx="6400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 b="true">
                <a:solidFill>
                  <a:srgbClr val="0E7C5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@id OK state=block_ready result=staged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5608" y="5486019"/>
            <a:ext cx="21488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Pi › MEGA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21608" y="5486019"/>
            <a:ext cx="6400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 b="true">
                <a:solidFill>
                  <a:srgbClr val="1E40A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 &lt;col&gt; &lt;row&gt; &lt;level&gt;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5608" y="6052947"/>
            <a:ext cx="21488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MEGA › 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21608" y="6052947"/>
            <a:ext cx="6400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Courier New"/>
                <a:ea typeface="Courier New"/>
                <a:cs typeface="Courier New"/>
                <a:sym typeface="Courier New"/>
              </a:rPr>
              <a:t>@seq STEP step=n/14 phase=… status=begin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5608" y="6619875"/>
            <a:ext cx="21488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MEGA › Pi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21608" y="6619875"/>
            <a:ext cx="6400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50" b="true">
                <a:solidFill>
                  <a:srgbClr val="0E7C5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@seq OK col=… row=… level=…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35608" y="7360920"/>
            <a:ext cx="8641080" cy="1938528"/>
            <a:chOff x="0" y="0"/>
            <a:chExt cx="11521440" cy="25847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21439" cy="2584704"/>
            </a:xfrm>
            <a:custGeom>
              <a:avLst/>
              <a:gdLst/>
              <a:ahLst/>
              <a:cxnLst/>
              <a:rect r="r" b="b" t="t" l="l"/>
              <a:pathLst>
                <a:path h="2584704" w="1152143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1228832" y="0"/>
                  </a:lnTo>
                  <a:cubicBezTo>
                    <a:pt x="11390375" y="0"/>
                    <a:pt x="11521439" y="130937"/>
                    <a:pt x="11521439" y="292608"/>
                  </a:cubicBezTo>
                  <a:lnTo>
                    <a:pt x="11521439" y="2292096"/>
                  </a:lnTo>
                  <a:cubicBezTo>
                    <a:pt x="11521439" y="2453640"/>
                    <a:pt x="11390502" y="2584704"/>
                    <a:pt x="11228832" y="2584704"/>
                  </a:cubicBezTo>
                  <a:lnTo>
                    <a:pt x="292608" y="2584704"/>
                  </a:lnTo>
                  <a:cubicBezTo>
                    <a:pt x="130937" y="2584704"/>
                    <a:pt x="0" y="2453767"/>
                    <a:pt x="0" y="2292096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55648" y="7552182"/>
            <a:ext cx="80467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sz="174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Only that one terminal message, with a matching id, authorises the B.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5648" y="8063865"/>
            <a:ext cx="8046720" cy="112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7008" indent="-93504" lvl="1">
              <a:lnSpc>
                <a:spcPts val="2092"/>
              </a:lnSpc>
              <a:buFont typeface="Arial"/>
              <a:buChar char="•"/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ACK, STATE, SENSOR and EVENT are progress, never success. A terminal with the wrong id is ignored.</a:t>
            </a:r>
          </a:p>
          <a:p>
            <a:pPr algn="l" marL="187008" indent="-93504" lvl="1">
              <a:lnSpc>
                <a:spcPts val="2092"/>
              </a:lnSpc>
              <a:buFont typeface="Arial"/>
              <a:buChar char="•"/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After the B is sent, even a SAFE rejection locks the session — a block is already staged.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010586" y="2826706"/>
            <a:ext cx="6261230" cy="6663566"/>
            <a:chOff x="0" y="0"/>
            <a:chExt cx="8348307" cy="8884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48345" cy="8884793"/>
            </a:xfrm>
            <a:custGeom>
              <a:avLst/>
              <a:gdLst/>
              <a:ahLst/>
              <a:cxnLst/>
              <a:rect r="r" b="b" t="t" l="l"/>
              <a:pathLst>
                <a:path h="8884793" w="8348345">
                  <a:moveTo>
                    <a:pt x="0" y="317754"/>
                  </a:moveTo>
                  <a:cubicBezTo>
                    <a:pt x="0" y="142240"/>
                    <a:pt x="142240" y="0"/>
                    <a:pt x="317754" y="0"/>
                  </a:cubicBezTo>
                  <a:lnTo>
                    <a:pt x="8030591" y="0"/>
                  </a:lnTo>
                  <a:cubicBezTo>
                    <a:pt x="8206105" y="0"/>
                    <a:pt x="8348345" y="142240"/>
                    <a:pt x="8348345" y="317754"/>
                  </a:cubicBezTo>
                  <a:lnTo>
                    <a:pt x="8348345" y="8567039"/>
                  </a:lnTo>
                  <a:cubicBezTo>
                    <a:pt x="8348345" y="8742553"/>
                    <a:pt x="8206105" y="8884793"/>
                    <a:pt x="8030591" y="8884793"/>
                  </a:cubicBezTo>
                  <a:lnTo>
                    <a:pt x="317754" y="8884793"/>
                  </a:lnTo>
                  <a:cubicBezTo>
                    <a:pt x="142240" y="8884793"/>
                    <a:pt x="0" y="8742553"/>
                    <a:pt x="0" y="8567039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430000" y="3079623"/>
            <a:ext cx="54864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GUARD STACK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430000" y="3703320"/>
            <a:ext cx="530352" cy="530352"/>
            <a:chOff x="0" y="0"/>
            <a:chExt cx="707136" cy="7071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430000" y="3820030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06656" y="3702939"/>
            <a:ext cx="4846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 route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06656" y="4095369"/>
            <a:ext cx="48463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unconfirmed request · mismatched command · stale frame · locked session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30000" y="4718304"/>
            <a:ext cx="530352" cy="530352"/>
            <a:chOff x="0" y="0"/>
            <a:chExt cx="707136" cy="7071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430000" y="4835014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06656" y="4717923"/>
            <a:ext cx="4846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Build worker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06656" y="5110353"/>
            <a:ext cx="48463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 second build already running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430000" y="5733288"/>
            <a:ext cx="530352" cy="530352"/>
            <a:chOff x="0" y="0"/>
            <a:chExt cx="707136" cy="707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430000" y="5849998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06656" y="5732907"/>
            <a:ext cx="4846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Safety state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06656" y="6125337"/>
            <a:ext cx="48463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 locked session, or no cell selected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430000" y="6748272"/>
            <a:ext cx="530352" cy="530352"/>
            <a:chOff x="0" y="0"/>
            <a:chExt cx="707136" cy="7071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1430000" y="6864982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106656" y="6747891"/>
            <a:ext cx="4846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Two-board handoff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06656" y="7140321"/>
            <a:ext cx="48463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another placement already owns the pickup point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430000" y="7763256"/>
            <a:ext cx="530352" cy="530352"/>
            <a:chOff x="0" y="0"/>
            <a:chExt cx="707136" cy="7071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894" y="707136"/>
                    <a:pt x="353568" y="707136"/>
                  </a:cubicBezTo>
                  <a:cubicBezTo>
                    <a:pt x="158242" y="707136"/>
                    <a:pt x="0" y="548894"/>
                    <a:pt x="0" y="3535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430000" y="7879966"/>
            <a:ext cx="530352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106656" y="7762875"/>
            <a:ext cx="484632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Serial clients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06656" y="8155305"/>
            <a:ext cx="48463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an overlapping transaction, or the wrong board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430000" y="8778240"/>
            <a:ext cx="5422392" cy="521208"/>
            <a:chOff x="0" y="0"/>
            <a:chExt cx="7229856" cy="6949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229856" cy="694944"/>
            </a:xfrm>
            <a:custGeom>
              <a:avLst/>
              <a:gdLst/>
              <a:ahLst/>
              <a:cxnLst/>
              <a:rect r="r" b="b" t="t" l="l"/>
              <a:pathLst>
                <a:path h="694944" w="722985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10400" y="0"/>
                  </a:lnTo>
                  <a:cubicBezTo>
                    <a:pt x="7131558" y="0"/>
                    <a:pt x="7229856" y="98298"/>
                    <a:pt x="7229856" y="219456"/>
                  </a:cubicBezTo>
                  <a:lnTo>
                    <a:pt x="7229856" y="475488"/>
                  </a:lnTo>
                  <a:cubicBezTo>
                    <a:pt x="7229856" y="596646"/>
                    <a:pt x="7131558" y="694944"/>
                    <a:pt x="7010400" y="694944"/>
                  </a:cubicBezTo>
                  <a:lnTo>
                    <a:pt x="219456" y="694944"/>
                  </a:lnTo>
                  <a:cubicBezTo>
                    <a:pt x="98298" y="694944"/>
                    <a:pt x="0" y="596646"/>
                    <a:pt x="0" y="475488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1704320" y="8887206"/>
            <a:ext cx="50292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browser is a mirror — a greyed-out button is never the safety mechanism.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OPERATOR CONSOLE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CAMERA, TAP A CELL, TWO TAPS TO MOVE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8280" y="2826706"/>
            <a:ext cx="11533146" cy="6690998"/>
            <a:chOff x="0" y="0"/>
            <a:chExt cx="15377528" cy="8921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77415" cy="8921242"/>
            </a:xfrm>
            <a:custGeom>
              <a:avLst/>
              <a:gdLst/>
              <a:ahLst/>
              <a:cxnLst/>
              <a:rect r="r" b="b" t="t" l="l"/>
              <a:pathLst>
                <a:path h="8921242" w="15377415">
                  <a:moveTo>
                    <a:pt x="0" y="317627"/>
                  </a:moveTo>
                  <a:cubicBezTo>
                    <a:pt x="0" y="142240"/>
                    <a:pt x="142240" y="0"/>
                    <a:pt x="317627" y="0"/>
                  </a:cubicBezTo>
                  <a:lnTo>
                    <a:pt x="15059788" y="0"/>
                  </a:lnTo>
                  <a:cubicBezTo>
                    <a:pt x="15235301" y="0"/>
                    <a:pt x="15377415" y="142240"/>
                    <a:pt x="15377415" y="317627"/>
                  </a:cubicBezTo>
                  <a:lnTo>
                    <a:pt x="15377415" y="8603615"/>
                  </a:lnTo>
                  <a:cubicBezTo>
                    <a:pt x="15377415" y="8779129"/>
                    <a:pt x="15235174" y="8921242"/>
                    <a:pt x="15059788" y="8921242"/>
                  </a:cubicBezTo>
                  <a:lnTo>
                    <a:pt x="317627" y="8921242"/>
                  </a:lnTo>
                  <a:cubicBezTo>
                    <a:pt x="142240" y="8921369"/>
                    <a:pt x="0" y="8779129"/>
                    <a:pt x="0" y="8603615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27382" y="3035808"/>
            <a:ext cx="11114932" cy="6272784"/>
            <a:chOff x="0" y="0"/>
            <a:chExt cx="14819909" cy="8363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19885" cy="8363712"/>
            </a:xfrm>
            <a:custGeom>
              <a:avLst/>
              <a:gdLst/>
              <a:ahLst/>
              <a:cxnLst/>
              <a:rect r="r" b="b" t="t" l="l"/>
              <a:pathLst>
                <a:path h="8363712" w="14819885">
                  <a:moveTo>
                    <a:pt x="0" y="0"/>
                  </a:moveTo>
                  <a:lnTo>
                    <a:pt x="14819885" y="0"/>
                  </a:lnTo>
                  <a:lnTo>
                    <a:pt x="14819885" y="8363712"/>
                  </a:lnTo>
                  <a:lnTo>
                    <a:pt x="0" y="836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93040" y="2998470"/>
            <a:ext cx="4370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Tap a cell.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3040" y="3473196"/>
            <a:ext cx="437083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Selection moves nothing and shows the exact command, B 3 2 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93040" y="4754118"/>
            <a:ext cx="4370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Tap BUILD, then CONFIRM.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3040" y="5228844"/>
            <a:ext cx="437083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One correlated FEED, then the B. Two deliberate taps.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3040" y="6509766"/>
            <a:ext cx="4370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Three outcomes.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6984492"/>
            <a:ext cx="437083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PLACED (green, selection cleared), REJECTED (amber, nothing moved), ABORTED (red, session locked).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3040" y="8265414"/>
            <a:ext cx="437083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No cancel, no retry.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93040" y="8740140"/>
            <a:ext cx="437083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There is no such control, because the machine cannot honour either.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3D BUILD STUDIO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DESIGN, VALIDATE, COMPILE — THEN RUN 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74264" y="2826706"/>
            <a:ext cx="8003638" cy="5868038"/>
            <a:chOff x="0" y="0"/>
            <a:chExt cx="10671518" cy="78240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71429" cy="7823962"/>
            </a:xfrm>
            <a:custGeom>
              <a:avLst/>
              <a:gdLst/>
              <a:ahLst/>
              <a:cxnLst/>
              <a:rect r="r" b="b" t="t" l="l"/>
              <a:pathLst>
                <a:path h="7823962" w="10671429">
                  <a:moveTo>
                    <a:pt x="0" y="317754"/>
                  </a:moveTo>
                  <a:cubicBezTo>
                    <a:pt x="0" y="142240"/>
                    <a:pt x="142240" y="0"/>
                    <a:pt x="317754" y="0"/>
                  </a:cubicBezTo>
                  <a:lnTo>
                    <a:pt x="10353675" y="0"/>
                  </a:lnTo>
                  <a:cubicBezTo>
                    <a:pt x="10529189" y="0"/>
                    <a:pt x="10671429" y="142240"/>
                    <a:pt x="10671429" y="317754"/>
                  </a:cubicBezTo>
                  <a:lnTo>
                    <a:pt x="10671429" y="7506208"/>
                  </a:lnTo>
                  <a:cubicBezTo>
                    <a:pt x="10671429" y="7681722"/>
                    <a:pt x="10529189" y="7823962"/>
                    <a:pt x="10353675" y="7823962"/>
                  </a:cubicBezTo>
                  <a:lnTo>
                    <a:pt x="317754" y="7823962"/>
                  </a:lnTo>
                  <a:cubicBezTo>
                    <a:pt x="142240" y="7824089"/>
                    <a:pt x="0" y="7681722"/>
                    <a:pt x="0" y="750620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83376" y="3035808"/>
            <a:ext cx="7585434" cy="5449824"/>
            <a:chOff x="0" y="0"/>
            <a:chExt cx="10113912" cy="7266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13899" cy="7266432"/>
            </a:xfrm>
            <a:custGeom>
              <a:avLst/>
              <a:gdLst/>
              <a:ahLst/>
              <a:cxnLst/>
              <a:rect r="r" b="b" t="t" l="l"/>
              <a:pathLst>
                <a:path h="7266432" w="10113899">
                  <a:moveTo>
                    <a:pt x="0" y="0"/>
                  </a:moveTo>
                  <a:lnTo>
                    <a:pt x="10113899" y="0"/>
                  </a:lnTo>
                  <a:lnTo>
                    <a:pt x="10113899" y="7266432"/>
                  </a:lnTo>
                  <a:lnTo>
                    <a:pt x="0" y="7266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66960" y="2832735"/>
            <a:ext cx="72969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VALIDATOR ASKS THREE QUESTIONS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66960" y="3472815"/>
            <a:ext cx="7296912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b="true" sz="18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— </a:t>
            </a: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centre-of-mass toppling test, not a contact-ratio shortcut.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b="true" sz="18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Collision — </a:t>
            </a: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 machine space, not grid indices, so a horizontal block spanning two columns is checked correctly.</a:t>
            </a:r>
          </a:p>
          <a:p>
            <a:pPr algn="l" marL="217170" indent="-108585" lvl="1">
              <a:lnSpc>
                <a:spcPts val="2430"/>
              </a:lnSpc>
              <a:buFont typeface="Arial"/>
              <a:buChar char="•"/>
            </a:pPr>
            <a:r>
              <a:rPr lang="en-US" b="true" sz="18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Reachability — </a:t>
            </a: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inside the active grid, under the firmware's build ceiling.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6960" y="5530215"/>
            <a:ext cx="72969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3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COMPILER RUNS IN FOUR STEPS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6960" y="6161532"/>
            <a:ext cx="7296912" cy="204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graph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which blocks rest on which, from footprint overlap.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Ordering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Kahn's algorithm, bottom-up, grouping same-orientation runs to minimise mode latches.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Emission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mode command only on an actual change.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b="true" sz="174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— </a:t>
            </a: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blocks, latches, levels and a time estimate.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66960" y="8485632"/>
            <a:ext cx="7296912" cy="1005840"/>
            <a:chOff x="0" y="0"/>
            <a:chExt cx="9729216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29216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29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9436608" y="0"/>
                  </a:lnTo>
                  <a:cubicBezTo>
                    <a:pt x="9598152" y="0"/>
                    <a:pt x="9729216" y="131064"/>
                    <a:pt x="9729216" y="292608"/>
                  </a:cubicBezTo>
                  <a:lnTo>
                    <a:pt x="9729216" y="1048512"/>
                  </a:lnTo>
                  <a:cubicBezTo>
                    <a:pt x="9729216" y="1210056"/>
                    <a:pt x="9598152" y="1341120"/>
                    <a:pt x="9436608" y="1341120"/>
                  </a:cubicBezTo>
                  <a:lnTo>
                    <a:pt x="292608" y="1341120"/>
                  </a:lnTo>
                  <a:cubicBezTo>
                    <a:pt x="131064" y="1341120"/>
                    <a:pt x="0" y="1210056"/>
                    <a:pt x="0" y="1048512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0" y="8620887"/>
            <a:ext cx="667512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Deterministic — twenty compiles, byte-identical output. An invalid model compiles to nothing at all, never to a half-program.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LIVE DIGITAL TWIN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 DRAWS WHAT THE FIRMWARE SAID — AND NOTHING ELSE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60595" y="2826706"/>
            <a:ext cx="10037026" cy="5868038"/>
            <a:chOff x="0" y="0"/>
            <a:chExt cx="13382701" cy="78240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82625" cy="7823962"/>
            </a:xfrm>
            <a:custGeom>
              <a:avLst/>
              <a:gdLst/>
              <a:ahLst/>
              <a:cxnLst/>
              <a:rect r="r" b="b" t="t" l="l"/>
              <a:pathLst>
                <a:path h="7823962" w="13382625">
                  <a:moveTo>
                    <a:pt x="0" y="317754"/>
                  </a:moveTo>
                  <a:cubicBezTo>
                    <a:pt x="0" y="142240"/>
                    <a:pt x="142240" y="0"/>
                    <a:pt x="317754" y="0"/>
                  </a:cubicBezTo>
                  <a:lnTo>
                    <a:pt x="13064871" y="0"/>
                  </a:lnTo>
                  <a:cubicBezTo>
                    <a:pt x="13240386" y="0"/>
                    <a:pt x="13382625" y="142240"/>
                    <a:pt x="13382625" y="317754"/>
                  </a:cubicBezTo>
                  <a:lnTo>
                    <a:pt x="13382625" y="7506208"/>
                  </a:lnTo>
                  <a:cubicBezTo>
                    <a:pt x="13382625" y="7681722"/>
                    <a:pt x="13240386" y="7823962"/>
                    <a:pt x="13064871" y="7823962"/>
                  </a:cubicBezTo>
                  <a:lnTo>
                    <a:pt x="317754" y="7823962"/>
                  </a:lnTo>
                  <a:cubicBezTo>
                    <a:pt x="142240" y="7824089"/>
                    <a:pt x="0" y="7681722"/>
                    <a:pt x="0" y="750620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69697" y="3035808"/>
            <a:ext cx="9618812" cy="5449824"/>
            <a:chOff x="0" y="0"/>
            <a:chExt cx="12825082" cy="7266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25095" cy="7266432"/>
            </a:xfrm>
            <a:custGeom>
              <a:avLst/>
              <a:gdLst/>
              <a:ahLst/>
              <a:cxnLst/>
              <a:rect r="r" b="b" t="t" l="l"/>
              <a:pathLst>
                <a:path h="7266432" w="12825095">
                  <a:moveTo>
                    <a:pt x="0" y="0"/>
                  </a:moveTo>
                  <a:lnTo>
                    <a:pt x="12825095" y="0"/>
                  </a:lnTo>
                  <a:lnTo>
                    <a:pt x="12825095" y="7266432"/>
                  </a:lnTo>
                  <a:lnTo>
                    <a:pt x="0" y="7266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573000" y="2870835"/>
            <a:ext cx="46908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It never invents state.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0" y="3290697"/>
            <a:ext cx="4690872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block is drawn as placed because the server reported a terminal placed result for it, and for no other reason.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0" y="4571619"/>
            <a:ext cx="46908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After an abort it stops.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3000" y="4991481"/>
            <a:ext cx="4690872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locked session freezes the animation, desaturates every block and demotes everything unconfirmed to a ghost.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3000" y="6272403"/>
            <a:ext cx="46908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Phase-driven, not clock-driven.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73000" y="6692265"/>
            <a:ext cx="4690872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 earlier version interpolated a 1.6 s descent from the browser's clock and looped it — a 40 s build showed twenty-five descents that never happened.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3000" y="7973187"/>
            <a:ext cx="46908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If Z jams,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73000" y="8393049"/>
            <a:ext cx="4690872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sz="15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block glides down, stops just short of the cell and sits there visibly not landing — which is the truth.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4128" y="1417320"/>
            <a:ext cx="16239744" cy="7452360"/>
            <a:chOff x="0" y="0"/>
            <a:chExt cx="21652992" cy="9936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52993" cy="9936480"/>
            </a:xfrm>
            <a:custGeom>
              <a:avLst/>
              <a:gdLst/>
              <a:ahLst/>
              <a:cxnLst/>
              <a:rect r="r" b="b" t="t" l="l"/>
              <a:pathLst>
                <a:path h="9936480" w="21652993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lnTo>
                    <a:pt x="20982432" y="0"/>
                  </a:lnTo>
                  <a:cubicBezTo>
                    <a:pt x="21352765" y="0"/>
                    <a:pt x="21652993" y="300228"/>
                    <a:pt x="21652993" y="670560"/>
                  </a:cubicBezTo>
                  <a:lnTo>
                    <a:pt x="21652993" y="9265920"/>
                  </a:lnTo>
                  <a:cubicBezTo>
                    <a:pt x="21652993" y="9636251"/>
                    <a:pt x="21352765" y="9936480"/>
                    <a:pt x="20982432" y="9936480"/>
                  </a:cubicBezTo>
                  <a:lnTo>
                    <a:pt x="670560" y="9936480"/>
                  </a:lnTo>
                  <a:cubicBezTo>
                    <a:pt x="300228" y="9936480"/>
                    <a:pt x="0" y="9636252"/>
                    <a:pt x="0" y="9265920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11680" y="2531745"/>
            <a:ext cx="475488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1000">
                <a:solidFill>
                  <a:srgbClr val="3E5FC4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680" y="3998595"/>
            <a:ext cx="8778240" cy="23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639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&amp;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680" y="6497955"/>
            <a:ext cx="841248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Sixteen complete builds on hardware, two reference boards, and 560 automated tests.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09960" y="2331720"/>
            <a:ext cx="5394960" cy="5623560"/>
            <a:chOff x="0" y="0"/>
            <a:chExt cx="7193280" cy="749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7498080"/>
            </a:xfrm>
            <a:custGeom>
              <a:avLst/>
              <a:gdLst/>
              <a:ahLst/>
              <a:cxnLst/>
              <a:rect r="r" b="b" t="t" l="l"/>
              <a:pathLst>
                <a:path h="7498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7" r="0" b="-20837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EVERY QUESTION ANSWERED AT THE CHEAPEST HONEST LEVEL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872426"/>
            <a:ext cx="16255622" cy="1405766"/>
            <a:chOff x="0" y="0"/>
            <a:chExt cx="21674163" cy="18743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74074" cy="1874266"/>
            </a:xfrm>
            <a:custGeom>
              <a:avLst/>
              <a:gdLst/>
              <a:ahLst/>
              <a:cxnLst/>
              <a:rect r="r" b="b" t="t" l="l"/>
              <a:pathLst>
                <a:path h="1874266" w="21674074">
                  <a:moveTo>
                    <a:pt x="0" y="320548"/>
                  </a:moveTo>
                  <a:cubicBezTo>
                    <a:pt x="0" y="143510"/>
                    <a:pt x="143510" y="0"/>
                    <a:pt x="320548" y="0"/>
                  </a:cubicBezTo>
                  <a:lnTo>
                    <a:pt x="21353526" y="0"/>
                  </a:lnTo>
                  <a:cubicBezTo>
                    <a:pt x="21530565" y="0"/>
                    <a:pt x="21674074" y="143510"/>
                    <a:pt x="21674074" y="320548"/>
                  </a:cubicBezTo>
                  <a:lnTo>
                    <a:pt x="21674074" y="1553718"/>
                  </a:lnTo>
                  <a:cubicBezTo>
                    <a:pt x="21674074" y="1730756"/>
                    <a:pt x="21530565" y="1874266"/>
                    <a:pt x="21353526" y="1874266"/>
                  </a:cubicBezTo>
                  <a:lnTo>
                    <a:pt x="320548" y="1874266"/>
                  </a:lnTo>
                  <a:cubicBezTo>
                    <a:pt x="143510" y="1874393"/>
                    <a:pt x="0" y="1730756"/>
                    <a:pt x="0" y="155371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6736" y="3127248"/>
            <a:ext cx="896112" cy="896112"/>
            <a:chOff x="0" y="0"/>
            <a:chExt cx="1194816" cy="11948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4816" cy="1194816"/>
            </a:xfrm>
            <a:custGeom>
              <a:avLst/>
              <a:gdLst/>
              <a:ahLst/>
              <a:cxnLst/>
              <a:rect r="r" b="b" t="t" l="l"/>
              <a:pathLst>
                <a:path h="1194816" w="1194816">
                  <a:moveTo>
                    <a:pt x="0" y="597408"/>
                  </a:moveTo>
                  <a:cubicBezTo>
                    <a:pt x="0" y="267462"/>
                    <a:pt x="267462" y="0"/>
                    <a:pt x="597408" y="0"/>
                  </a:cubicBezTo>
                  <a:cubicBezTo>
                    <a:pt x="927354" y="0"/>
                    <a:pt x="1194816" y="267462"/>
                    <a:pt x="1194816" y="597408"/>
                  </a:cubicBezTo>
                  <a:cubicBezTo>
                    <a:pt x="1194816" y="927354"/>
                    <a:pt x="927354" y="1194816"/>
                    <a:pt x="597408" y="1194816"/>
                  </a:cubicBezTo>
                  <a:cubicBezTo>
                    <a:pt x="267462" y="1194816"/>
                    <a:pt x="0" y="927354"/>
                    <a:pt x="0" y="5974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16736" y="3348104"/>
            <a:ext cx="896112" cy="86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8880" y="3135630"/>
            <a:ext cx="5669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software tests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68880" y="3703320"/>
            <a:ext cx="1737360" cy="365760"/>
            <a:chOff x="0" y="0"/>
            <a:chExt cx="2316480" cy="487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70176" y="0"/>
                  </a:lnTo>
                  <a:cubicBezTo>
                    <a:pt x="2250948" y="0"/>
                    <a:pt x="2316480" y="65532"/>
                    <a:pt x="2316480" y="146304"/>
                  </a:cubicBezTo>
                  <a:lnTo>
                    <a:pt x="2316480" y="341376"/>
                  </a:lnTo>
                  <a:cubicBezTo>
                    <a:pt x="2316480" y="422148"/>
                    <a:pt x="2250948" y="487680"/>
                    <a:pt x="2170176" y="487680"/>
                  </a:cubicBezTo>
                  <a:lnTo>
                    <a:pt x="146304" y="487680"/>
                  </a:lnTo>
                  <a:cubicBezTo>
                    <a:pt x="65532" y="487680"/>
                    <a:pt x="0" y="422148"/>
                    <a:pt x="0" y="341376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468880" y="3757422"/>
            <a:ext cx="173736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no hardware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22208" y="3161919"/>
            <a:ext cx="841248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Grid arithmetic, protocol parsers, the compiler, the twin, the homography. The Python and TypeScript grids are held to each other by shared fixtures.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16194" y="4445194"/>
            <a:ext cx="16255622" cy="1405766"/>
            <a:chOff x="0" y="0"/>
            <a:chExt cx="21674163" cy="18743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674074" cy="1874266"/>
            </a:xfrm>
            <a:custGeom>
              <a:avLst/>
              <a:gdLst/>
              <a:ahLst/>
              <a:cxnLst/>
              <a:rect r="r" b="b" t="t" l="l"/>
              <a:pathLst>
                <a:path h="1874266" w="21674074">
                  <a:moveTo>
                    <a:pt x="0" y="320548"/>
                  </a:moveTo>
                  <a:cubicBezTo>
                    <a:pt x="0" y="143510"/>
                    <a:pt x="143510" y="0"/>
                    <a:pt x="320548" y="0"/>
                  </a:cubicBezTo>
                  <a:lnTo>
                    <a:pt x="21353526" y="0"/>
                  </a:lnTo>
                  <a:cubicBezTo>
                    <a:pt x="21530565" y="0"/>
                    <a:pt x="21674074" y="143510"/>
                    <a:pt x="21674074" y="320548"/>
                  </a:cubicBezTo>
                  <a:lnTo>
                    <a:pt x="21674074" y="1553718"/>
                  </a:lnTo>
                  <a:cubicBezTo>
                    <a:pt x="21674074" y="1730756"/>
                    <a:pt x="21530565" y="1874266"/>
                    <a:pt x="21353526" y="1874266"/>
                  </a:cubicBezTo>
                  <a:lnTo>
                    <a:pt x="320548" y="1874266"/>
                  </a:lnTo>
                  <a:cubicBezTo>
                    <a:pt x="143510" y="1874393"/>
                    <a:pt x="0" y="1730756"/>
                    <a:pt x="0" y="155371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736" y="4700016"/>
            <a:ext cx="896112" cy="896112"/>
            <a:chOff x="0" y="0"/>
            <a:chExt cx="1194816" cy="11948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4816" cy="1194816"/>
            </a:xfrm>
            <a:custGeom>
              <a:avLst/>
              <a:gdLst/>
              <a:ahLst/>
              <a:cxnLst/>
              <a:rect r="r" b="b" t="t" l="l"/>
              <a:pathLst>
                <a:path h="1194816" w="1194816">
                  <a:moveTo>
                    <a:pt x="0" y="597408"/>
                  </a:moveTo>
                  <a:cubicBezTo>
                    <a:pt x="0" y="267462"/>
                    <a:pt x="267462" y="0"/>
                    <a:pt x="597408" y="0"/>
                  </a:cubicBezTo>
                  <a:cubicBezTo>
                    <a:pt x="927354" y="0"/>
                    <a:pt x="1194816" y="267462"/>
                    <a:pt x="1194816" y="597408"/>
                  </a:cubicBezTo>
                  <a:cubicBezTo>
                    <a:pt x="1194816" y="927354"/>
                    <a:pt x="927354" y="1194816"/>
                    <a:pt x="597408" y="1194816"/>
                  </a:cubicBezTo>
                  <a:cubicBezTo>
                    <a:pt x="267462" y="1194816"/>
                    <a:pt x="0" y="927354"/>
                    <a:pt x="0" y="5974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16736" y="4920872"/>
            <a:ext cx="896112" cy="86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68880" y="4708398"/>
            <a:ext cx="5669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Protocol-level simulation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468880" y="5276088"/>
            <a:ext cx="1737360" cy="365760"/>
            <a:chOff x="0" y="0"/>
            <a:chExt cx="2316480" cy="487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648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70176" y="0"/>
                  </a:lnTo>
                  <a:cubicBezTo>
                    <a:pt x="2250948" y="0"/>
                    <a:pt x="2316480" y="65532"/>
                    <a:pt x="2316480" y="146304"/>
                  </a:cubicBezTo>
                  <a:lnTo>
                    <a:pt x="2316480" y="341376"/>
                  </a:lnTo>
                  <a:cubicBezTo>
                    <a:pt x="2316480" y="422148"/>
                    <a:pt x="2250948" y="487680"/>
                    <a:pt x="2170176" y="487680"/>
                  </a:cubicBezTo>
                  <a:lnTo>
                    <a:pt x="146304" y="487680"/>
                  </a:lnTo>
                  <a:cubicBezTo>
                    <a:pt x="65532" y="487680"/>
                    <a:pt x="0" y="422148"/>
                    <a:pt x="0" y="341376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468880" y="5330190"/>
            <a:ext cx="173736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no hardware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22208" y="4734687"/>
            <a:ext cx="841248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fake MEGA and a fake Uno speak the same acknowledgement grammar, including failure, reset and cancellation. This is how the two-board handoff was tested exhaustively.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16194" y="6017962"/>
            <a:ext cx="16255622" cy="1405766"/>
            <a:chOff x="0" y="0"/>
            <a:chExt cx="21674163" cy="18743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74074" cy="1874266"/>
            </a:xfrm>
            <a:custGeom>
              <a:avLst/>
              <a:gdLst/>
              <a:ahLst/>
              <a:cxnLst/>
              <a:rect r="r" b="b" t="t" l="l"/>
              <a:pathLst>
                <a:path h="1874266" w="21674074">
                  <a:moveTo>
                    <a:pt x="0" y="320548"/>
                  </a:moveTo>
                  <a:cubicBezTo>
                    <a:pt x="0" y="143510"/>
                    <a:pt x="143510" y="0"/>
                    <a:pt x="320548" y="0"/>
                  </a:cubicBezTo>
                  <a:lnTo>
                    <a:pt x="21353526" y="0"/>
                  </a:lnTo>
                  <a:cubicBezTo>
                    <a:pt x="21530565" y="0"/>
                    <a:pt x="21674074" y="143510"/>
                    <a:pt x="21674074" y="320548"/>
                  </a:cubicBezTo>
                  <a:lnTo>
                    <a:pt x="21674074" y="1553718"/>
                  </a:lnTo>
                  <a:cubicBezTo>
                    <a:pt x="21674074" y="1730756"/>
                    <a:pt x="21530565" y="1874266"/>
                    <a:pt x="21353526" y="1874266"/>
                  </a:cubicBezTo>
                  <a:lnTo>
                    <a:pt x="320548" y="1874266"/>
                  </a:lnTo>
                  <a:cubicBezTo>
                    <a:pt x="143510" y="1874393"/>
                    <a:pt x="0" y="1730756"/>
                    <a:pt x="0" y="155371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16736" y="6272784"/>
            <a:ext cx="896112" cy="896112"/>
            <a:chOff x="0" y="0"/>
            <a:chExt cx="1194816" cy="11948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94816" cy="1194816"/>
            </a:xfrm>
            <a:custGeom>
              <a:avLst/>
              <a:gdLst/>
              <a:ahLst/>
              <a:cxnLst/>
              <a:rect r="r" b="b" t="t" l="l"/>
              <a:pathLst>
                <a:path h="1194816" w="1194816">
                  <a:moveTo>
                    <a:pt x="0" y="597408"/>
                  </a:moveTo>
                  <a:cubicBezTo>
                    <a:pt x="0" y="267462"/>
                    <a:pt x="267462" y="0"/>
                    <a:pt x="597408" y="0"/>
                  </a:cubicBezTo>
                  <a:cubicBezTo>
                    <a:pt x="927354" y="0"/>
                    <a:pt x="1194816" y="267462"/>
                    <a:pt x="1194816" y="597408"/>
                  </a:cubicBezTo>
                  <a:cubicBezTo>
                    <a:pt x="1194816" y="927354"/>
                    <a:pt x="927354" y="1194816"/>
                    <a:pt x="597408" y="1194816"/>
                  </a:cubicBezTo>
                  <a:cubicBezTo>
                    <a:pt x="267462" y="1194816"/>
                    <a:pt x="0" y="927354"/>
                    <a:pt x="0" y="5974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16736" y="6493640"/>
            <a:ext cx="896112" cy="86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68880" y="6281166"/>
            <a:ext cx="5669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Firmware host builds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468880" y="6848856"/>
            <a:ext cx="1737360" cy="365760"/>
            <a:chOff x="0" y="0"/>
            <a:chExt cx="231648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1648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70176" y="0"/>
                  </a:lnTo>
                  <a:cubicBezTo>
                    <a:pt x="2250948" y="0"/>
                    <a:pt x="2316480" y="65532"/>
                    <a:pt x="2316480" y="146304"/>
                  </a:cubicBezTo>
                  <a:lnTo>
                    <a:pt x="2316480" y="341376"/>
                  </a:lnTo>
                  <a:cubicBezTo>
                    <a:pt x="2316480" y="422148"/>
                    <a:pt x="2250948" y="487680"/>
                    <a:pt x="2170176" y="487680"/>
                  </a:cubicBezTo>
                  <a:lnTo>
                    <a:pt x="146304" y="487680"/>
                  </a:lnTo>
                  <a:cubicBezTo>
                    <a:pt x="65532" y="487680"/>
                    <a:pt x="0" y="422148"/>
                    <a:pt x="0" y="341376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468880" y="6902958"/>
            <a:ext cx="173736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no hardware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22208" y="6307455"/>
            <a:ext cx="841248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stub-Arduino harness proves the sketch parses and that its output is byte-for-byte the protocol. A clean compile is not treated as a test of behaviour.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16194" y="7590730"/>
            <a:ext cx="16255622" cy="1405766"/>
            <a:chOff x="0" y="0"/>
            <a:chExt cx="21674163" cy="18743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674074" cy="1874266"/>
            </a:xfrm>
            <a:custGeom>
              <a:avLst/>
              <a:gdLst/>
              <a:ahLst/>
              <a:cxnLst/>
              <a:rect r="r" b="b" t="t" l="l"/>
              <a:pathLst>
                <a:path h="1874266" w="21674074">
                  <a:moveTo>
                    <a:pt x="0" y="320548"/>
                  </a:moveTo>
                  <a:cubicBezTo>
                    <a:pt x="0" y="143510"/>
                    <a:pt x="143510" y="0"/>
                    <a:pt x="320548" y="0"/>
                  </a:cubicBezTo>
                  <a:lnTo>
                    <a:pt x="21353526" y="0"/>
                  </a:lnTo>
                  <a:cubicBezTo>
                    <a:pt x="21530565" y="0"/>
                    <a:pt x="21674074" y="143510"/>
                    <a:pt x="21674074" y="320548"/>
                  </a:cubicBezTo>
                  <a:lnTo>
                    <a:pt x="21674074" y="1553718"/>
                  </a:lnTo>
                  <a:cubicBezTo>
                    <a:pt x="21674074" y="1730756"/>
                    <a:pt x="21530565" y="1874266"/>
                    <a:pt x="21353526" y="1874266"/>
                  </a:cubicBezTo>
                  <a:lnTo>
                    <a:pt x="320548" y="1874266"/>
                  </a:lnTo>
                  <a:cubicBezTo>
                    <a:pt x="143510" y="1874393"/>
                    <a:pt x="0" y="1730756"/>
                    <a:pt x="0" y="155371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16736" y="7845552"/>
            <a:ext cx="896112" cy="896112"/>
            <a:chOff x="0" y="0"/>
            <a:chExt cx="1194816" cy="11948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94816" cy="1194816"/>
            </a:xfrm>
            <a:custGeom>
              <a:avLst/>
              <a:gdLst/>
              <a:ahLst/>
              <a:cxnLst/>
              <a:rect r="r" b="b" t="t" l="l"/>
              <a:pathLst>
                <a:path h="1194816" w="1194816">
                  <a:moveTo>
                    <a:pt x="0" y="597408"/>
                  </a:moveTo>
                  <a:cubicBezTo>
                    <a:pt x="0" y="267462"/>
                    <a:pt x="267462" y="0"/>
                    <a:pt x="597408" y="0"/>
                  </a:cubicBezTo>
                  <a:cubicBezTo>
                    <a:pt x="927354" y="0"/>
                    <a:pt x="1194816" y="267462"/>
                    <a:pt x="1194816" y="597408"/>
                  </a:cubicBezTo>
                  <a:cubicBezTo>
                    <a:pt x="1194816" y="927354"/>
                    <a:pt x="927354" y="1194816"/>
                    <a:pt x="597408" y="1194816"/>
                  </a:cubicBezTo>
                  <a:cubicBezTo>
                    <a:pt x="267462" y="1194816"/>
                    <a:pt x="0" y="927354"/>
                    <a:pt x="0" y="5974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16736" y="8066408"/>
            <a:ext cx="896112" cy="86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68880" y="7853934"/>
            <a:ext cx="5669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runs on the rig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468880" y="8421624"/>
            <a:ext cx="1737360" cy="365760"/>
            <a:chOff x="0" y="0"/>
            <a:chExt cx="2316480" cy="487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16480" cy="487680"/>
            </a:xfrm>
            <a:custGeom>
              <a:avLst/>
              <a:gdLst/>
              <a:ahLst/>
              <a:cxnLst/>
              <a:rect r="r" b="b" t="t" l="l"/>
              <a:pathLst>
                <a:path h="487680" w="2316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70176" y="0"/>
                  </a:lnTo>
                  <a:cubicBezTo>
                    <a:pt x="2250948" y="0"/>
                    <a:pt x="2316480" y="65532"/>
                    <a:pt x="2316480" y="146304"/>
                  </a:cubicBezTo>
                  <a:lnTo>
                    <a:pt x="2316480" y="341376"/>
                  </a:lnTo>
                  <a:cubicBezTo>
                    <a:pt x="2316480" y="422148"/>
                    <a:pt x="2250948" y="487680"/>
                    <a:pt x="2170176" y="487680"/>
                  </a:cubicBezTo>
                  <a:lnTo>
                    <a:pt x="146304" y="487680"/>
                  </a:lnTo>
                  <a:cubicBezTo>
                    <a:pt x="65532" y="487680"/>
                    <a:pt x="0" y="422148"/>
                    <a:pt x="0" y="341376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468880" y="8475726"/>
            <a:ext cx="173736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4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the real machine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22208" y="7880223"/>
            <a:ext cx="841248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Anything touching motion, limits or Z. Every run appends to two logs — a stopwatch per build, and every serial line with the gap since the last one.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24128" y="9189720"/>
            <a:ext cx="16239744" cy="749808"/>
            <a:chOff x="0" y="0"/>
            <a:chExt cx="21652992" cy="9997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652992" cy="999744"/>
            </a:xfrm>
            <a:custGeom>
              <a:avLst/>
              <a:gdLst/>
              <a:ahLst/>
              <a:cxnLst/>
              <a:rect r="r" b="b" t="t" l="l"/>
              <a:pathLst>
                <a:path h="999744" w="21652992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lnTo>
                    <a:pt x="21384768" y="0"/>
                  </a:lnTo>
                  <a:cubicBezTo>
                    <a:pt x="21532850" y="0"/>
                    <a:pt x="21652992" y="120142"/>
                    <a:pt x="21652992" y="268224"/>
                  </a:cubicBezTo>
                  <a:lnTo>
                    <a:pt x="21652992" y="731520"/>
                  </a:lnTo>
                  <a:cubicBezTo>
                    <a:pt x="21652992" y="879602"/>
                    <a:pt x="21532850" y="999744"/>
                    <a:pt x="21384768" y="999744"/>
                  </a:cubicBezTo>
                  <a:lnTo>
                    <a:pt x="268224" y="999744"/>
                  </a:lnTo>
                  <a:cubicBezTo>
                    <a:pt x="120142" y="999744"/>
                    <a:pt x="0" y="879602"/>
                    <a:pt x="0" y="731520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27048" y="9316212"/>
            <a:ext cx="152704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rig takes half a minute to answer one question, and a wrong answer can drive a claw into a stack — so the logs from level 4 are the primary evidence, and everything else is rehearsal.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CYCLE TIME AND REPEATABILITY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SIXTEEN BUILDS ON HARDWARE, ALL SIXTEEN PLACED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826706"/>
            <a:ext cx="3088262" cy="1588646"/>
            <a:chOff x="0" y="0"/>
            <a:chExt cx="4117683" cy="2118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7594" cy="2118233"/>
            </a:xfrm>
            <a:custGeom>
              <a:avLst/>
              <a:gdLst/>
              <a:ahLst/>
              <a:cxnLst/>
              <a:rect r="r" b="b" t="t" l="l"/>
              <a:pathLst>
                <a:path h="2118233" w="4117594">
                  <a:moveTo>
                    <a:pt x="0" y="320167"/>
                  </a:moveTo>
                  <a:cubicBezTo>
                    <a:pt x="0" y="143383"/>
                    <a:pt x="143383" y="0"/>
                    <a:pt x="320167" y="0"/>
                  </a:cubicBezTo>
                  <a:lnTo>
                    <a:pt x="3797427" y="0"/>
                  </a:lnTo>
                  <a:cubicBezTo>
                    <a:pt x="3974211" y="0"/>
                    <a:pt x="4117594" y="143383"/>
                    <a:pt x="4117594" y="320167"/>
                  </a:cubicBezTo>
                  <a:lnTo>
                    <a:pt x="4117594" y="1798066"/>
                  </a:lnTo>
                  <a:cubicBezTo>
                    <a:pt x="4117594" y="1974850"/>
                    <a:pt x="3974211" y="2118233"/>
                    <a:pt x="3797427" y="2118233"/>
                  </a:cubicBezTo>
                  <a:lnTo>
                    <a:pt x="320167" y="2118233"/>
                  </a:lnTo>
                  <a:cubicBezTo>
                    <a:pt x="143383" y="2118233"/>
                    <a:pt x="0" y="1974850"/>
                    <a:pt x="0" y="179806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4128" y="3035808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26.1 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432" y="3711702"/>
            <a:ext cx="277977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mean cycle, per block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89746" y="2826706"/>
            <a:ext cx="3088262" cy="1588646"/>
            <a:chOff x="0" y="0"/>
            <a:chExt cx="4117683" cy="21181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7594" cy="2118233"/>
            </a:xfrm>
            <a:custGeom>
              <a:avLst/>
              <a:gdLst/>
              <a:ahLst/>
              <a:cxnLst/>
              <a:rect r="r" b="b" t="t" l="l"/>
              <a:pathLst>
                <a:path h="2118233" w="4117594">
                  <a:moveTo>
                    <a:pt x="0" y="320167"/>
                  </a:moveTo>
                  <a:cubicBezTo>
                    <a:pt x="0" y="143383"/>
                    <a:pt x="143383" y="0"/>
                    <a:pt x="320167" y="0"/>
                  </a:cubicBezTo>
                  <a:lnTo>
                    <a:pt x="3797427" y="0"/>
                  </a:lnTo>
                  <a:cubicBezTo>
                    <a:pt x="3974211" y="0"/>
                    <a:pt x="4117594" y="143383"/>
                    <a:pt x="4117594" y="320167"/>
                  </a:cubicBezTo>
                  <a:lnTo>
                    <a:pt x="4117594" y="1798066"/>
                  </a:lnTo>
                  <a:cubicBezTo>
                    <a:pt x="4117594" y="1974850"/>
                    <a:pt x="3974211" y="2118233"/>
                    <a:pt x="3797427" y="2118233"/>
                  </a:cubicBezTo>
                  <a:lnTo>
                    <a:pt x="320167" y="2118233"/>
                  </a:lnTo>
                  <a:cubicBezTo>
                    <a:pt x="143383" y="2118233"/>
                    <a:pt x="0" y="1974850"/>
                    <a:pt x="0" y="179806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297680" y="3035808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19.8 – 32.2 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43984" y="3711702"/>
            <a:ext cx="277977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fastest and worst case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63298" y="2826706"/>
            <a:ext cx="3088262" cy="1588646"/>
            <a:chOff x="0" y="0"/>
            <a:chExt cx="4117683" cy="21181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7594" cy="2118233"/>
            </a:xfrm>
            <a:custGeom>
              <a:avLst/>
              <a:gdLst/>
              <a:ahLst/>
              <a:cxnLst/>
              <a:rect r="r" b="b" t="t" l="l"/>
              <a:pathLst>
                <a:path h="2118233" w="4117594">
                  <a:moveTo>
                    <a:pt x="0" y="320167"/>
                  </a:moveTo>
                  <a:cubicBezTo>
                    <a:pt x="0" y="143383"/>
                    <a:pt x="143383" y="0"/>
                    <a:pt x="320167" y="0"/>
                  </a:cubicBezTo>
                  <a:lnTo>
                    <a:pt x="3797427" y="0"/>
                  </a:lnTo>
                  <a:cubicBezTo>
                    <a:pt x="3974211" y="0"/>
                    <a:pt x="4117594" y="143383"/>
                    <a:pt x="4117594" y="320167"/>
                  </a:cubicBezTo>
                  <a:lnTo>
                    <a:pt x="4117594" y="1798066"/>
                  </a:lnTo>
                  <a:cubicBezTo>
                    <a:pt x="4117594" y="1974850"/>
                    <a:pt x="3974211" y="2118233"/>
                    <a:pt x="3797427" y="2118233"/>
                  </a:cubicBezTo>
                  <a:lnTo>
                    <a:pt x="320167" y="2118233"/>
                  </a:lnTo>
                  <a:cubicBezTo>
                    <a:pt x="143383" y="2118233"/>
                    <a:pt x="0" y="1974850"/>
                    <a:pt x="0" y="179806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571232" y="3035808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&lt; 45 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17536" y="3711702"/>
            <a:ext cx="277977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the objective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36850" y="2826706"/>
            <a:ext cx="3088262" cy="1588646"/>
            <a:chOff x="0" y="0"/>
            <a:chExt cx="4117683" cy="21181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7594" cy="2118233"/>
            </a:xfrm>
            <a:custGeom>
              <a:avLst/>
              <a:gdLst/>
              <a:ahLst/>
              <a:cxnLst/>
              <a:rect r="r" b="b" t="t" l="l"/>
              <a:pathLst>
                <a:path h="2118233" w="4117594">
                  <a:moveTo>
                    <a:pt x="0" y="320167"/>
                  </a:moveTo>
                  <a:cubicBezTo>
                    <a:pt x="0" y="143383"/>
                    <a:pt x="143383" y="0"/>
                    <a:pt x="320167" y="0"/>
                  </a:cubicBezTo>
                  <a:lnTo>
                    <a:pt x="3797427" y="0"/>
                  </a:lnTo>
                  <a:cubicBezTo>
                    <a:pt x="3974211" y="0"/>
                    <a:pt x="4117594" y="143383"/>
                    <a:pt x="4117594" y="320167"/>
                  </a:cubicBezTo>
                  <a:lnTo>
                    <a:pt x="4117594" y="1798066"/>
                  </a:lnTo>
                  <a:cubicBezTo>
                    <a:pt x="4117594" y="1974850"/>
                    <a:pt x="3974211" y="2118233"/>
                    <a:pt x="3797427" y="2118233"/>
                  </a:cubicBezTo>
                  <a:lnTo>
                    <a:pt x="320167" y="2118233"/>
                  </a:lnTo>
                  <a:cubicBezTo>
                    <a:pt x="143383" y="2118233"/>
                    <a:pt x="0" y="1974850"/>
                    <a:pt x="0" y="179806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844784" y="3035808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12.57 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91088" y="3711702"/>
            <a:ext cx="277977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the nine fixed phases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110402" y="2826706"/>
            <a:ext cx="3088262" cy="1588646"/>
            <a:chOff x="0" y="0"/>
            <a:chExt cx="4117683" cy="21181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7594" cy="2118233"/>
            </a:xfrm>
            <a:custGeom>
              <a:avLst/>
              <a:gdLst/>
              <a:ahLst/>
              <a:cxnLst/>
              <a:rect r="r" b="b" t="t" l="l"/>
              <a:pathLst>
                <a:path h="2118233" w="4117594">
                  <a:moveTo>
                    <a:pt x="0" y="320167"/>
                  </a:moveTo>
                  <a:cubicBezTo>
                    <a:pt x="0" y="143383"/>
                    <a:pt x="143383" y="0"/>
                    <a:pt x="320167" y="0"/>
                  </a:cubicBezTo>
                  <a:lnTo>
                    <a:pt x="3797427" y="0"/>
                  </a:lnTo>
                  <a:cubicBezTo>
                    <a:pt x="3974211" y="0"/>
                    <a:pt x="4117594" y="143383"/>
                    <a:pt x="4117594" y="320167"/>
                  </a:cubicBezTo>
                  <a:lnTo>
                    <a:pt x="4117594" y="1798066"/>
                  </a:lnTo>
                  <a:cubicBezTo>
                    <a:pt x="4117594" y="1974850"/>
                    <a:pt x="3974211" y="2118233"/>
                    <a:pt x="3797427" y="2118233"/>
                  </a:cubicBezTo>
                  <a:lnTo>
                    <a:pt x="320167" y="2118233"/>
                  </a:lnTo>
                  <a:cubicBezTo>
                    <a:pt x="143383" y="2118233"/>
                    <a:pt x="0" y="1974850"/>
                    <a:pt x="0" y="179806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118336" y="3035808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0.18 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64640" y="3711702"/>
            <a:ext cx="277977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their standard deviation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16194" y="4701226"/>
            <a:ext cx="16255622" cy="3719198"/>
            <a:chOff x="0" y="0"/>
            <a:chExt cx="21674163" cy="49589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74074" cy="4958842"/>
            </a:xfrm>
            <a:custGeom>
              <a:avLst/>
              <a:gdLst/>
              <a:ahLst/>
              <a:cxnLst/>
              <a:rect r="r" b="b" t="t" l="l"/>
              <a:pathLst>
                <a:path h="4958842" w="21674074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21355813" y="0"/>
                  </a:lnTo>
                  <a:cubicBezTo>
                    <a:pt x="21531580" y="0"/>
                    <a:pt x="21674074" y="142494"/>
                    <a:pt x="21674074" y="318262"/>
                  </a:cubicBezTo>
                  <a:lnTo>
                    <a:pt x="21674074" y="4640580"/>
                  </a:lnTo>
                  <a:cubicBezTo>
                    <a:pt x="21674074" y="4816348"/>
                    <a:pt x="21531580" y="4958842"/>
                    <a:pt x="21355813" y="4958842"/>
                  </a:cubicBezTo>
                  <a:lnTo>
                    <a:pt x="318262" y="4958842"/>
                  </a:lnTo>
                  <a:cubicBezTo>
                    <a:pt x="142494" y="4958969"/>
                    <a:pt x="0" y="4816475"/>
                    <a:pt x="0" y="464058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527048" y="4946142"/>
            <a:ext cx="109728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Mean duration of each build phase, over sixteen builds  (seconds)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7048" y="5348478"/>
            <a:ext cx="1097280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Light bar = minimum to maximum across all sixteen  ·  solid bar = mean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709928" y="7680103"/>
            <a:ext cx="786384" cy="92297"/>
            <a:chOff x="0" y="0"/>
            <a:chExt cx="1048512" cy="1230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8512" cy="123063"/>
            </a:xfrm>
            <a:custGeom>
              <a:avLst/>
              <a:gdLst/>
              <a:ahLst/>
              <a:cxnLst/>
              <a:rect r="r" b="b" t="t" l="l"/>
              <a:pathLst>
                <a:path h="123063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23063"/>
                  </a:lnTo>
                  <a:lnTo>
                    <a:pt x="0" y="123063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63624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7048" y="7331869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0.42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799893" y="7644936"/>
            <a:ext cx="786384" cy="127464"/>
            <a:chOff x="0" y="0"/>
            <a:chExt cx="1048512" cy="1699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8512" cy="169926"/>
            </a:xfrm>
            <a:custGeom>
              <a:avLst/>
              <a:gdLst/>
              <a:ahLst/>
              <a:cxnLst/>
              <a:rect r="r" b="b" t="t" l="l"/>
              <a:pathLst>
                <a:path h="169926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69926"/>
                  </a:lnTo>
                  <a:lnTo>
                    <a:pt x="0" y="169926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653589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17013" y="7296702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0.58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889858" y="7682303"/>
            <a:ext cx="786384" cy="90097"/>
            <a:chOff x="0" y="0"/>
            <a:chExt cx="1048512" cy="1201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8512" cy="120142"/>
            </a:xfrm>
            <a:custGeom>
              <a:avLst/>
              <a:gdLst/>
              <a:ahLst/>
              <a:cxnLst/>
              <a:rect r="r" b="b" t="t" l="l"/>
              <a:pathLst>
                <a:path h="12014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20142"/>
                  </a:lnTo>
                  <a:lnTo>
                    <a:pt x="0" y="120142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3743554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706978" y="7334069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0.41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979822" y="7568032"/>
            <a:ext cx="786384" cy="204368"/>
            <a:chOff x="0" y="0"/>
            <a:chExt cx="1048512" cy="2724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8512" cy="272542"/>
            </a:xfrm>
            <a:custGeom>
              <a:avLst/>
              <a:gdLst/>
              <a:ahLst/>
              <a:cxnLst/>
              <a:rect r="r" b="b" t="t" l="l"/>
              <a:pathLst>
                <a:path h="27254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272542"/>
                  </a:lnTo>
                  <a:lnTo>
                    <a:pt x="0" y="272542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4833518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796942" y="7219798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0.93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069787" y="7132911"/>
            <a:ext cx="786384" cy="639489"/>
            <a:chOff x="0" y="0"/>
            <a:chExt cx="1048512" cy="85265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8512" cy="852678"/>
            </a:xfrm>
            <a:custGeom>
              <a:avLst/>
              <a:gdLst/>
              <a:ahLst/>
              <a:cxnLst/>
              <a:rect r="r" b="b" t="t" l="l"/>
              <a:pathLst>
                <a:path h="852678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852678"/>
                  </a:lnTo>
                  <a:lnTo>
                    <a:pt x="0" y="852678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923483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86907" y="6784677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2.91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159752" y="7563631"/>
            <a:ext cx="786384" cy="208769"/>
            <a:chOff x="0" y="0"/>
            <a:chExt cx="1048512" cy="2783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" cy="278384"/>
            </a:xfrm>
            <a:custGeom>
              <a:avLst/>
              <a:gdLst/>
              <a:ahLst/>
              <a:cxnLst/>
              <a:rect r="r" b="b" t="t" l="l"/>
              <a:pathLst>
                <a:path h="278384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278384"/>
                  </a:lnTo>
                  <a:lnTo>
                    <a:pt x="0" y="278384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7013448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976872" y="7215397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0.95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249717" y="7137302"/>
            <a:ext cx="786384" cy="635098"/>
            <a:chOff x="0" y="0"/>
            <a:chExt cx="1048512" cy="8467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8512" cy="846836"/>
            </a:xfrm>
            <a:custGeom>
              <a:avLst/>
              <a:gdLst/>
              <a:ahLst/>
              <a:cxnLst/>
              <a:rect r="r" b="b" t="t" l="l"/>
              <a:pathLst>
                <a:path h="846836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846836"/>
                  </a:lnTo>
                  <a:lnTo>
                    <a:pt x="0" y="846836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8103413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066837" y="6789068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2.89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339682" y="6207738"/>
            <a:ext cx="786384" cy="1239422"/>
            <a:chOff x="0" y="0"/>
            <a:chExt cx="1048512" cy="165256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" cy="1652524"/>
            </a:xfrm>
            <a:custGeom>
              <a:avLst/>
              <a:gdLst/>
              <a:ahLst/>
              <a:cxnLst/>
              <a:rect r="r" b="b" t="t" l="l"/>
              <a:pathLst>
                <a:path h="1652524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652524"/>
                  </a:lnTo>
                  <a:lnTo>
                    <a:pt x="0" y="1652524"/>
                  </a:ln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39682" y="6776904"/>
            <a:ext cx="786384" cy="995496"/>
            <a:chOff x="0" y="0"/>
            <a:chExt cx="1048512" cy="13273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8512" cy="1327277"/>
            </a:xfrm>
            <a:custGeom>
              <a:avLst/>
              <a:gdLst/>
              <a:ahLst/>
              <a:cxnLst/>
              <a:rect r="r" b="b" t="t" l="l"/>
              <a:pathLst>
                <a:path h="1327277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327277"/>
                  </a:lnTo>
                  <a:lnTo>
                    <a:pt x="0" y="1327277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193378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156802" y="6428670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4.53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429646" y="7350471"/>
            <a:ext cx="786384" cy="336223"/>
            <a:chOff x="0" y="0"/>
            <a:chExt cx="1048512" cy="44829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" cy="448310"/>
            </a:xfrm>
            <a:custGeom>
              <a:avLst/>
              <a:gdLst/>
              <a:ahLst/>
              <a:cxnLst/>
              <a:rect r="r" b="b" t="t" l="l"/>
              <a:pathLst>
                <a:path h="448310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48310"/>
                  </a:lnTo>
                  <a:lnTo>
                    <a:pt x="0" y="448310"/>
                  </a:ln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429646" y="7664720"/>
            <a:ext cx="786384" cy="107680"/>
            <a:chOff x="0" y="0"/>
            <a:chExt cx="1048512" cy="14357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8512" cy="143637"/>
            </a:xfrm>
            <a:custGeom>
              <a:avLst/>
              <a:gdLst/>
              <a:ahLst/>
              <a:cxnLst/>
              <a:rect r="r" b="b" t="t" l="l"/>
              <a:pathLst>
                <a:path h="143637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43637"/>
                  </a:lnTo>
                  <a:lnTo>
                    <a:pt x="0" y="143637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0283342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246766" y="7316486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0.49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1519611" y="7130710"/>
            <a:ext cx="786384" cy="145037"/>
            <a:chOff x="0" y="0"/>
            <a:chExt cx="1048512" cy="19338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8512" cy="193421"/>
            </a:xfrm>
            <a:custGeom>
              <a:avLst/>
              <a:gdLst/>
              <a:ahLst/>
              <a:cxnLst/>
              <a:rect r="r" b="b" t="t" l="l"/>
              <a:pathLst>
                <a:path h="193421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93421"/>
                  </a:lnTo>
                  <a:lnTo>
                    <a:pt x="0" y="193421"/>
                  </a:ln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519611" y="7157085"/>
            <a:ext cx="786384" cy="615315"/>
            <a:chOff x="0" y="0"/>
            <a:chExt cx="1048512" cy="8204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8512" cy="820420"/>
            </a:xfrm>
            <a:custGeom>
              <a:avLst/>
              <a:gdLst/>
              <a:ahLst/>
              <a:cxnLst/>
              <a:rect r="r" b="b" t="t" l="l"/>
              <a:pathLst>
                <a:path h="820420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820420"/>
                  </a:lnTo>
                  <a:lnTo>
                    <a:pt x="0" y="82042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1373307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336731" y="6808851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2.80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609576" y="7616371"/>
            <a:ext cx="786384" cy="156029"/>
            <a:chOff x="0" y="0"/>
            <a:chExt cx="1048512" cy="20803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48512" cy="208026"/>
            </a:xfrm>
            <a:custGeom>
              <a:avLst/>
              <a:gdLst/>
              <a:ahLst/>
              <a:cxnLst/>
              <a:rect r="r" b="b" t="t" l="l"/>
              <a:pathLst>
                <a:path h="208026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208026"/>
                  </a:lnTo>
                  <a:lnTo>
                    <a:pt x="0" y="208026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2463272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426696" y="7268137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0.71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3699541" y="7143893"/>
            <a:ext cx="786384" cy="134055"/>
            <a:chOff x="0" y="0"/>
            <a:chExt cx="1048512" cy="1787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" cy="178689"/>
            </a:xfrm>
            <a:custGeom>
              <a:avLst/>
              <a:gdLst/>
              <a:ahLst/>
              <a:cxnLst/>
              <a:rect r="r" b="b" t="t" l="l"/>
              <a:pathLst>
                <a:path h="178689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78689"/>
                  </a:lnTo>
                  <a:lnTo>
                    <a:pt x="0" y="178689"/>
                  </a:ln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699541" y="7165877"/>
            <a:ext cx="786384" cy="606523"/>
            <a:chOff x="0" y="0"/>
            <a:chExt cx="1048512" cy="80869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48512" cy="808736"/>
            </a:xfrm>
            <a:custGeom>
              <a:avLst/>
              <a:gdLst/>
              <a:ahLst/>
              <a:cxnLst/>
              <a:rect r="r" b="b" t="t" l="l"/>
              <a:pathLst>
                <a:path h="808736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808736"/>
                  </a:lnTo>
                  <a:lnTo>
                    <a:pt x="0" y="808736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3553237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516661" y="6817643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2.76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4789506" y="5897880"/>
            <a:ext cx="786384" cy="1566862"/>
            <a:chOff x="0" y="0"/>
            <a:chExt cx="1048512" cy="20891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48512" cy="2089150"/>
            </a:xfrm>
            <a:custGeom>
              <a:avLst/>
              <a:gdLst/>
              <a:ahLst/>
              <a:cxnLst/>
              <a:rect r="r" b="b" t="t" l="l"/>
              <a:pathLst>
                <a:path h="2089150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2089150"/>
                  </a:lnTo>
                  <a:lnTo>
                    <a:pt x="0" y="2089150"/>
                  </a:ln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789506" y="6743938"/>
            <a:ext cx="786384" cy="1028462"/>
            <a:chOff x="0" y="0"/>
            <a:chExt cx="1048512" cy="137128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48512" cy="1371219"/>
            </a:xfrm>
            <a:custGeom>
              <a:avLst/>
              <a:gdLst/>
              <a:ahLst/>
              <a:cxnLst/>
              <a:rect r="r" b="b" t="t" l="l"/>
              <a:pathLst>
                <a:path h="1371219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371219"/>
                  </a:lnTo>
                  <a:lnTo>
                    <a:pt x="0" y="1371219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4643202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606626" y="6395704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4.68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5879470" y="7341680"/>
            <a:ext cx="786384" cy="342824"/>
            <a:chOff x="0" y="0"/>
            <a:chExt cx="1048512" cy="45709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8512" cy="457073"/>
            </a:xfrm>
            <a:custGeom>
              <a:avLst/>
              <a:gdLst/>
              <a:ahLst/>
              <a:cxnLst/>
              <a:rect r="r" b="b" t="t" l="l"/>
              <a:pathLst>
                <a:path h="457073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57073"/>
                  </a:lnTo>
                  <a:lnTo>
                    <a:pt x="0" y="457073"/>
                  </a:lnTo>
                  <a:close/>
                </a:path>
              </a:pathLst>
            </a:custGeom>
            <a:solidFill>
              <a:srgbClr val="C7D3F2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5879470" y="7658129"/>
            <a:ext cx="786384" cy="114271"/>
            <a:chOff x="0" y="0"/>
            <a:chExt cx="1048512" cy="15236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48512" cy="152400"/>
            </a:xfrm>
            <a:custGeom>
              <a:avLst/>
              <a:gdLst/>
              <a:ahLst/>
              <a:cxnLst/>
              <a:rect r="r" b="b" t="t" l="l"/>
              <a:pathLst>
                <a:path h="152400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96" id="96"/>
          <p:cNvSpPr txBox="true"/>
          <p:nvPr/>
        </p:nvSpPr>
        <p:spPr>
          <a:xfrm rot="0">
            <a:off x="15733166" y="7826502"/>
            <a:ext cx="1078992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696590" y="7309895"/>
            <a:ext cx="1152144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16308A"/>
                </a:solidFill>
                <a:latin typeface="Poppins Bold"/>
                <a:ea typeface="Poppins Bold"/>
                <a:cs typeface="Poppins Bold"/>
                <a:sym typeface="Poppins Bold"/>
              </a:rPr>
              <a:t>0.52</a:t>
            </a:r>
          </a:p>
        </p:txBody>
      </p:sp>
      <p:sp>
        <p:nvSpPr>
          <p:cNvPr name="AutoShape 98" id="98"/>
          <p:cNvSpPr/>
          <p:nvPr/>
        </p:nvSpPr>
        <p:spPr>
          <a:xfrm rot="3480">
            <a:off x="1537716" y="7767638"/>
            <a:ext cx="15011410" cy="0"/>
          </a:xfrm>
          <a:prstGeom prst="line">
            <a:avLst/>
          </a:prstGeom>
          <a:ln cap="rnd" w="9525">
            <a:solidFill>
              <a:srgbClr val="C9CF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9" id="99"/>
          <p:cNvSpPr txBox="true"/>
          <p:nvPr/>
        </p:nvSpPr>
        <p:spPr>
          <a:xfrm rot="0">
            <a:off x="1709928" y="8210550"/>
            <a:ext cx="1481328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build phase 1 – 14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24128" y="8585073"/>
            <a:ext cx="78181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Nine phases never move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24128" y="9097137"/>
            <a:ext cx="78181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Nine of the fourteen have no distance or level dependence at all. Across all sixteen builds they summed to 12.57 s ± 0.18 s — six of them identical to the 0.01 s logging resolution.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299448" y="8585073"/>
            <a:ext cx="78181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variation is travel, and nothing else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299448" y="9097137"/>
            <a:ext cx="781812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Only phases 8 and 13 range widely, 1.48 s to 8.53 s. With no acceleration ramp, a move of N steps takes N times a fixed period.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TWO REFERENCE BOARDS, TWO NEGATIVE 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780986"/>
            <a:ext cx="3088262" cy="1497206"/>
            <a:chOff x="0" y="0"/>
            <a:chExt cx="4117683" cy="19962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7721" cy="1996313"/>
            </a:xfrm>
            <a:custGeom>
              <a:avLst/>
              <a:gdLst/>
              <a:ahLst/>
              <a:cxnLst/>
              <a:rect r="r" b="b" t="t" l="l"/>
              <a:pathLst>
                <a:path h="1996313" w="4117721">
                  <a:moveTo>
                    <a:pt x="0" y="320421"/>
                  </a:moveTo>
                  <a:cubicBezTo>
                    <a:pt x="0" y="143383"/>
                    <a:pt x="143383" y="0"/>
                    <a:pt x="320421" y="0"/>
                  </a:cubicBezTo>
                  <a:lnTo>
                    <a:pt x="3797300" y="0"/>
                  </a:lnTo>
                  <a:cubicBezTo>
                    <a:pt x="3974211" y="0"/>
                    <a:pt x="4117721" y="143383"/>
                    <a:pt x="4117721" y="320421"/>
                  </a:cubicBezTo>
                  <a:lnTo>
                    <a:pt x="4117721" y="1675892"/>
                  </a:lnTo>
                  <a:cubicBezTo>
                    <a:pt x="4117721" y="1852803"/>
                    <a:pt x="3974338" y="1996313"/>
                    <a:pt x="3797300" y="1996313"/>
                  </a:cubicBezTo>
                  <a:lnTo>
                    <a:pt x="320421" y="1996313"/>
                  </a:lnTo>
                  <a:cubicBezTo>
                    <a:pt x="143383" y="1996313"/>
                    <a:pt x="0" y="1852803"/>
                    <a:pt x="0" y="1675892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4128" y="2962656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29 / 29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2144" y="3574161"/>
            <a:ext cx="28163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4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blocks found, both boards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89746" y="2780986"/>
            <a:ext cx="3088262" cy="1497206"/>
            <a:chOff x="0" y="0"/>
            <a:chExt cx="4117683" cy="1996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7721" cy="1996313"/>
            </a:xfrm>
            <a:custGeom>
              <a:avLst/>
              <a:gdLst/>
              <a:ahLst/>
              <a:cxnLst/>
              <a:rect r="r" b="b" t="t" l="l"/>
              <a:pathLst>
                <a:path h="1996313" w="4117721">
                  <a:moveTo>
                    <a:pt x="0" y="320421"/>
                  </a:moveTo>
                  <a:cubicBezTo>
                    <a:pt x="0" y="143383"/>
                    <a:pt x="143383" y="0"/>
                    <a:pt x="320421" y="0"/>
                  </a:cubicBezTo>
                  <a:lnTo>
                    <a:pt x="3797300" y="0"/>
                  </a:lnTo>
                  <a:cubicBezTo>
                    <a:pt x="3974211" y="0"/>
                    <a:pt x="4117721" y="143383"/>
                    <a:pt x="4117721" y="320421"/>
                  </a:cubicBezTo>
                  <a:lnTo>
                    <a:pt x="4117721" y="1675892"/>
                  </a:lnTo>
                  <a:cubicBezTo>
                    <a:pt x="4117721" y="1852803"/>
                    <a:pt x="3974338" y="1996313"/>
                    <a:pt x="3797300" y="1996313"/>
                  </a:cubicBezTo>
                  <a:lnTo>
                    <a:pt x="320421" y="1996313"/>
                  </a:lnTo>
                  <a:cubicBezTo>
                    <a:pt x="143383" y="1996313"/>
                    <a:pt x="0" y="1852803"/>
                    <a:pt x="0" y="1675892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297680" y="2962656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33 › 29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25696" y="3574161"/>
            <a:ext cx="28163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4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hypotheses after rejection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63298" y="2780986"/>
            <a:ext cx="3088262" cy="1497206"/>
            <a:chOff x="0" y="0"/>
            <a:chExt cx="4117683" cy="1996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7721" cy="1996313"/>
            </a:xfrm>
            <a:custGeom>
              <a:avLst/>
              <a:gdLst/>
              <a:ahLst/>
              <a:cxnLst/>
              <a:rect r="r" b="b" t="t" l="l"/>
              <a:pathLst>
                <a:path h="1996313" w="4117721">
                  <a:moveTo>
                    <a:pt x="0" y="320421"/>
                  </a:moveTo>
                  <a:cubicBezTo>
                    <a:pt x="0" y="143383"/>
                    <a:pt x="143383" y="0"/>
                    <a:pt x="320421" y="0"/>
                  </a:cubicBezTo>
                  <a:lnTo>
                    <a:pt x="3797300" y="0"/>
                  </a:lnTo>
                  <a:cubicBezTo>
                    <a:pt x="3974211" y="0"/>
                    <a:pt x="4117721" y="143383"/>
                    <a:pt x="4117721" y="320421"/>
                  </a:cubicBezTo>
                  <a:lnTo>
                    <a:pt x="4117721" y="1675892"/>
                  </a:lnTo>
                  <a:cubicBezTo>
                    <a:pt x="4117721" y="1852803"/>
                    <a:pt x="3974338" y="1996313"/>
                    <a:pt x="3797300" y="1996313"/>
                  </a:cubicBezTo>
                  <a:lnTo>
                    <a:pt x="320421" y="1996313"/>
                  </a:lnTo>
                  <a:cubicBezTo>
                    <a:pt x="143383" y="1996313"/>
                    <a:pt x="0" y="1852803"/>
                    <a:pt x="0" y="1675892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571232" y="2962656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37 – 103 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9248" y="3574161"/>
            <a:ext cx="28163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4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per analysed frame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36850" y="2780986"/>
            <a:ext cx="3088262" cy="1497206"/>
            <a:chOff x="0" y="0"/>
            <a:chExt cx="4117683" cy="19962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7721" cy="1996313"/>
            </a:xfrm>
            <a:custGeom>
              <a:avLst/>
              <a:gdLst/>
              <a:ahLst/>
              <a:cxnLst/>
              <a:rect r="r" b="b" t="t" l="l"/>
              <a:pathLst>
                <a:path h="1996313" w="4117721">
                  <a:moveTo>
                    <a:pt x="0" y="320421"/>
                  </a:moveTo>
                  <a:cubicBezTo>
                    <a:pt x="0" y="143383"/>
                    <a:pt x="143383" y="0"/>
                    <a:pt x="320421" y="0"/>
                  </a:cubicBezTo>
                  <a:lnTo>
                    <a:pt x="3797300" y="0"/>
                  </a:lnTo>
                  <a:cubicBezTo>
                    <a:pt x="3974211" y="0"/>
                    <a:pt x="4117721" y="143383"/>
                    <a:pt x="4117721" y="320421"/>
                  </a:cubicBezTo>
                  <a:lnTo>
                    <a:pt x="4117721" y="1675892"/>
                  </a:lnTo>
                  <a:cubicBezTo>
                    <a:pt x="4117721" y="1852803"/>
                    <a:pt x="3974338" y="1996313"/>
                    <a:pt x="3797300" y="1996313"/>
                  </a:cubicBezTo>
                  <a:lnTo>
                    <a:pt x="320421" y="1996313"/>
                  </a:lnTo>
                  <a:cubicBezTo>
                    <a:pt x="143383" y="1996313"/>
                    <a:pt x="0" y="1852803"/>
                    <a:pt x="0" y="1675892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844784" y="2962656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0.85 px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72800" y="3574161"/>
            <a:ext cx="28163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4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mean fit residual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110402" y="2780986"/>
            <a:ext cx="3088262" cy="1497206"/>
            <a:chOff x="0" y="0"/>
            <a:chExt cx="4117683" cy="19962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7721" cy="1996313"/>
            </a:xfrm>
            <a:custGeom>
              <a:avLst/>
              <a:gdLst/>
              <a:ahLst/>
              <a:cxnLst/>
              <a:rect r="r" b="b" t="t" l="l"/>
              <a:pathLst>
                <a:path h="1996313" w="4117721">
                  <a:moveTo>
                    <a:pt x="0" y="320421"/>
                  </a:moveTo>
                  <a:cubicBezTo>
                    <a:pt x="0" y="143383"/>
                    <a:pt x="143383" y="0"/>
                    <a:pt x="320421" y="0"/>
                  </a:cubicBezTo>
                  <a:lnTo>
                    <a:pt x="3797300" y="0"/>
                  </a:lnTo>
                  <a:cubicBezTo>
                    <a:pt x="3974211" y="0"/>
                    <a:pt x="4117721" y="143383"/>
                    <a:pt x="4117721" y="320421"/>
                  </a:cubicBezTo>
                  <a:lnTo>
                    <a:pt x="4117721" y="1675892"/>
                  </a:lnTo>
                  <a:cubicBezTo>
                    <a:pt x="4117721" y="1852803"/>
                    <a:pt x="3974338" y="1996313"/>
                    <a:pt x="3797300" y="1996313"/>
                  </a:cubicBezTo>
                  <a:lnTo>
                    <a:pt x="320421" y="1996313"/>
                  </a:lnTo>
                  <a:cubicBezTo>
                    <a:pt x="143383" y="1996313"/>
                    <a:pt x="0" y="1852803"/>
                    <a:pt x="0" y="1675892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118336" y="2962656"/>
            <a:ext cx="3072384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0.27 cm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46352" y="3574161"/>
            <a:ext cx="28163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4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mapping error on a 2.2 cm block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53305" y="4609786"/>
            <a:ext cx="3210725" cy="4542158"/>
            <a:chOff x="0" y="0"/>
            <a:chExt cx="4280967" cy="60562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80916" cy="6056122"/>
            </a:xfrm>
            <a:custGeom>
              <a:avLst/>
              <a:gdLst/>
              <a:ahLst/>
              <a:cxnLst/>
              <a:rect r="r" b="b" t="t" l="l"/>
              <a:pathLst>
                <a:path h="6056122" w="4280916">
                  <a:moveTo>
                    <a:pt x="0" y="318516"/>
                  </a:moveTo>
                  <a:cubicBezTo>
                    <a:pt x="0" y="142621"/>
                    <a:pt x="142621" y="0"/>
                    <a:pt x="318516" y="0"/>
                  </a:cubicBezTo>
                  <a:lnTo>
                    <a:pt x="3962400" y="0"/>
                  </a:lnTo>
                  <a:cubicBezTo>
                    <a:pt x="4138295" y="0"/>
                    <a:pt x="4280916" y="142621"/>
                    <a:pt x="4280916" y="318516"/>
                  </a:cubicBezTo>
                  <a:lnTo>
                    <a:pt x="4280916" y="5737606"/>
                  </a:lnTo>
                  <a:cubicBezTo>
                    <a:pt x="4280916" y="5913501"/>
                    <a:pt x="4138295" y="6056122"/>
                    <a:pt x="3962400" y="6056122"/>
                  </a:cubicBezTo>
                  <a:lnTo>
                    <a:pt x="318516" y="6056122"/>
                  </a:lnTo>
                  <a:cubicBezTo>
                    <a:pt x="142621" y="6056249"/>
                    <a:pt x="0" y="5913628"/>
                    <a:pt x="0" y="573760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662408" y="4818888"/>
            <a:ext cx="2792511" cy="4123944"/>
            <a:chOff x="0" y="0"/>
            <a:chExt cx="3723348" cy="5498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23386" cy="5498592"/>
            </a:xfrm>
            <a:custGeom>
              <a:avLst/>
              <a:gdLst/>
              <a:ahLst/>
              <a:cxnLst/>
              <a:rect r="r" b="b" t="t" l="l"/>
              <a:pathLst>
                <a:path h="5498592" w="3723386">
                  <a:moveTo>
                    <a:pt x="0" y="0"/>
                  </a:moveTo>
                  <a:lnTo>
                    <a:pt x="3723386" y="0"/>
                  </a:lnTo>
                  <a:lnTo>
                    <a:pt x="3723386" y="5498592"/>
                  </a:lnTo>
                  <a:lnTo>
                    <a:pt x="0" y="549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24128" y="9234297"/>
            <a:ext cx="406908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29 blocks, the rails, and two wooden offcuts that are not blocks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32120" y="4661535"/>
            <a:ext cx="580644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THE FIT CHOSE, AND WHY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32120" y="5301615"/>
            <a:ext cx="5806440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5105" indent="-102553" lvl="1">
              <a:lnSpc>
                <a:spcPts val="2295"/>
              </a:lnSpc>
              <a:buFont typeface="Arial"/>
              <a:buChar char="•"/>
            </a:pPr>
            <a:r>
              <a:rPr lang="en-US" b="true" sz="17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Chosen on held-out prediction, not training error. </a:t>
            </a: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Similarity 101.4 px, affine 1.38, homography 1.22, homography + curvature 1.09.</a:t>
            </a:r>
          </a:p>
          <a:p>
            <a:pPr algn="l" marL="205105" indent="-102553" lvl="1">
              <a:lnSpc>
                <a:spcPts val="2295"/>
              </a:lnSpc>
              <a:buFont typeface="Arial"/>
              <a:buChar char="•"/>
            </a:pPr>
            <a:r>
              <a:rPr lang="en-US" b="true" sz="17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Pitch is static to within 2 %. </a:t>
            </a: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X 29.38 px (sd 1.24), Y 69.14 px (sd 1.08).</a:t>
            </a:r>
          </a:p>
          <a:p>
            <a:pPr algn="l" marL="205105" indent="-102553" lvl="1">
              <a:lnSpc>
                <a:spcPts val="2295"/>
              </a:lnSpc>
              <a:buFont typeface="Arial"/>
              <a:buChar char="•"/>
            </a:pPr>
            <a:r>
              <a:rPr lang="en-US" b="true" sz="170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An independent geometry check. </a:t>
            </a: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view is 17.7 % anisotropic; two independent estimates agree to 4 %.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532120" y="8732520"/>
            <a:ext cx="5806440" cy="749808"/>
            <a:chOff x="0" y="0"/>
            <a:chExt cx="7741920" cy="9997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741920" cy="999744"/>
            </a:xfrm>
            <a:custGeom>
              <a:avLst/>
              <a:gdLst/>
              <a:ahLst/>
              <a:cxnLst/>
              <a:rect r="r" b="b" t="t" l="l"/>
              <a:pathLst>
                <a:path h="999744" w="77419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7498080" y="0"/>
                  </a:lnTo>
                  <a:cubicBezTo>
                    <a:pt x="7632700" y="0"/>
                    <a:pt x="7741920" y="109220"/>
                    <a:pt x="7741920" y="243840"/>
                  </a:cubicBezTo>
                  <a:lnTo>
                    <a:pt x="7741920" y="755904"/>
                  </a:lnTo>
                  <a:cubicBezTo>
                    <a:pt x="7741920" y="890524"/>
                    <a:pt x="7632700" y="999744"/>
                    <a:pt x="7498080" y="999744"/>
                  </a:cubicBezTo>
                  <a:lnTo>
                    <a:pt x="243840" y="999744"/>
                  </a:lnTo>
                  <a:cubicBezTo>
                    <a:pt x="109220" y="999744"/>
                    <a:pt x="0" y="890524"/>
                    <a:pt x="0" y="7559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824728" y="8877681"/>
            <a:ext cx="53035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0.27 cm is the saved four-corner format flattening the fit — not the fit itself.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58600" y="4661535"/>
            <a:ext cx="560527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TWO NEGATIVE RESULTS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50666" y="5341306"/>
            <a:ext cx="5621150" cy="2027558"/>
            <a:chOff x="0" y="0"/>
            <a:chExt cx="7494867" cy="27034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94905" cy="2703449"/>
            </a:xfrm>
            <a:custGeom>
              <a:avLst/>
              <a:gdLst/>
              <a:ahLst/>
              <a:cxnLst/>
              <a:rect r="r" b="b" t="t" l="l"/>
              <a:pathLst>
                <a:path h="2703449" w="7494905">
                  <a:moveTo>
                    <a:pt x="0" y="319532"/>
                  </a:moveTo>
                  <a:cubicBezTo>
                    <a:pt x="0" y="143002"/>
                    <a:pt x="143002" y="0"/>
                    <a:pt x="319532" y="0"/>
                  </a:cubicBezTo>
                  <a:lnTo>
                    <a:pt x="7175373" y="0"/>
                  </a:lnTo>
                  <a:cubicBezTo>
                    <a:pt x="7351776" y="0"/>
                    <a:pt x="7494905" y="143002"/>
                    <a:pt x="7494905" y="319532"/>
                  </a:cubicBezTo>
                  <a:lnTo>
                    <a:pt x="7494905" y="2383917"/>
                  </a:lnTo>
                  <a:cubicBezTo>
                    <a:pt x="7494905" y="2560320"/>
                    <a:pt x="7351903" y="2703449"/>
                    <a:pt x="7175373" y="2703449"/>
                  </a:cubicBezTo>
                  <a:lnTo>
                    <a:pt x="319532" y="2703449"/>
                  </a:lnTo>
                  <a:cubicBezTo>
                    <a:pt x="143002" y="2703449"/>
                    <a:pt x="0" y="2560320"/>
                    <a:pt x="0" y="238391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1969496" y="5567934"/>
            <a:ext cx="50292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Higher resolution finds nothing extra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69496" y="6289929"/>
            <a:ext cx="50292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29/29 at every width from 384 to 1024 px. Illumination flattening costs up to 3,894 ms a frame and finds exactly the same 29.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650666" y="7554154"/>
            <a:ext cx="5621150" cy="2027558"/>
            <a:chOff x="0" y="0"/>
            <a:chExt cx="7494867" cy="27034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494905" cy="2703449"/>
            </a:xfrm>
            <a:custGeom>
              <a:avLst/>
              <a:gdLst/>
              <a:ahLst/>
              <a:cxnLst/>
              <a:rect r="r" b="b" t="t" l="l"/>
              <a:pathLst>
                <a:path h="2703449" w="7494905">
                  <a:moveTo>
                    <a:pt x="0" y="319532"/>
                  </a:moveTo>
                  <a:cubicBezTo>
                    <a:pt x="0" y="143002"/>
                    <a:pt x="143002" y="0"/>
                    <a:pt x="319532" y="0"/>
                  </a:cubicBezTo>
                  <a:lnTo>
                    <a:pt x="7175373" y="0"/>
                  </a:lnTo>
                  <a:cubicBezTo>
                    <a:pt x="7351776" y="0"/>
                    <a:pt x="7494905" y="143002"/>
                    <a:pt x="7494905" y="319532"/>
                  </a:cubicBezTo>
                  <a:lnTo>
                    <a:pt x="7494905" y="2383917"/>
                  </a:lnTo>
                  <a:cubicBezTo>
                    <a:pt x="7494905" y="2560320"/>
                    <a:pt x="7351903" y="2703449"/>
                    <a:pt x="7175373" y="2703449"/>
                  </a:cubicBezTo>
                  <a:lnTo>
                    <a:pt x="319532" y="2703449"/>
                  </a:lnTo>
                  <a:cubicBezTo>
                    <a:pt x="143002" y="2703449"/>
                    <a:pt x="0" y="2560320"/>
                    <a:pt x="0" y="238391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1969496" y="7780782"/>
            <a:ext cx="50292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174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White balance is right for the sheet, wrong for the board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69496" y="8502777"/>
            <a:ext cx="50292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On the printed sheet it takes the green mask from 0 pixels to 87,836. On a board of blocks it pulls the wood toward the surface: 28 of 29 with it on, 29 with it off.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4128" y="1417320"/>
            <a:ext cx="16239744" cy="7452360"/>
            <a:chOff x="0" y="0"/>
            <a:chExt cx="21652992" cy="9936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52993" cy="9936480"/>
            </a:xfrm>
            <a:custGeom>
              <a:avLst/>
              <a:gdLst/>
              <a:ahLst/>
              <a:cxnLst/>
              <a:rect r="r" b="b" t="t" l="l"/>
              <a:pathLst>
                <a:path h="9936480" w="21652993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lnTo>
                    <a:pt x="20982432" y="0"/>
                  </a:lnTo>
                  <a:cubicBezTo>
                    <a:pt x="21352765" y="0"/>
                    <a:pt x="21652993" y="300228"/>
                    <a:pt x="21652993" y="670560"/>
                  </a:cubicBezTo>
                  <a:lnTo>
                    <a:pt x="21652993" y="9265920"/>
                  </a:lnTo>
                  <a:cubicBezTo>
                    <a:pt x="21652993" y="9636251"/>
                    <a:pt x="21352765" y="9936480"/>
                    <a:pt x="20982432" y="9936480"/>
                  </a:cubicBezTo>
                  <a:lnTo>
                    <a:pt x="670560" y="9936480"/>
                  </a:lnTo>
                  <a:cubicBezTo>
                    <a:pt x="300228" y="9936480"/>
                    <a:pt x="0" y="9636252"/>
                    <a:pt x="0" y="9265920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11680" y="2531745"/>
            <a:ext cx="475488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1000">
                <a:solidFill>
                  <a:srgbClr val="3E5FC4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1680" y="3998595"/>
            <a:ext cx="8778240" cy="23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6399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680" y="6497955"/>
            <a:ext cx="8412480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What the machine proves, the limits that are real, and the one item on the list that is not optional.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09960" y="2331720"/>
            <a:ext cx="5394960" cy="5623560"/>
            <a:chOff x="0" y="0"/>
            <a:chExt cx="7193280" cy="7498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7498080"/>
            </a:xfrm>
            <a:custGeom>
              <a:avLst/>
              <a:gdLst/>
              <a:ahLst/>
              <a:cxnLst/>
              <a:rect r="r" b="b" t="t" l="l"/>
              <a:pathLst>
                <a:path h="7498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541" t="0" r="-22542" b="0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LIMITATIONS, STATED PLAINLY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LIMITS OF THE HARDWARE, NOT OF THE APPROACH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6194" y="2872426"/>
            <a:ext cx="7833998" cy="1716662"/>
            <a:chOff x="0" y="0"/>
            <a:chExt cx="10445331" cy="22888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5242" cy="2288794"/>
            </a:xfrm>
            <a:custGeom>
              <a:avLst/>
              <a:gdLst/>
              <a:ahLst/>
              <a:cxnLst/>
              <a:rect r="r" b="b" t="t" l="l"/>
              <a:pathLst>
                <a:path h="2288794" w="10445242">
                  <a:moveTo>
                    <a:pt x="0" y="319913"/>
                  </a:moveTo>
                  <a:cubicBezTo>
                    <a:pt x="0" y="143256"/>
                    <a:pt x="143256" y="0"/>
                    <a:pt x="319913" y="0"/>
                  </a:cubicBezTo>
                  <a:lnTo>
                    <a:pt x="10125329" y="0"/>
                  </a:lnTo>
                  <a:cubicBezTo>
                    <a:pt x="10301986" y="0"/>
                    <a:pt x="10445242" y="143256"/>
                    <a:pt x="10445242" y="319913"/>
                  </a:cubicBezTo>
                  <a:lnTo>
                    <a:pt x="10445242" y="1968881"/>
                  </a:lnTo>
                  <a:cubicBezTo>
                    <a:pt x="10445242" y="2145538"/>
                    <a:pt x="10301986" y="2288794"/>
                    <a:pt x="10125329" y="2288794"/>
                  </a:cubicBezTo>
                  <a:lnTo>
                    <a:pt x="319913" y="2288794"/>
                  </a:lnTo>
                  <a:cubicBezTo>
                    <a:pt x="143256" y="2288921"/>
                    <a:pt x="0" y="2145665"/>
                    <a:pt x="0" y="19688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08176" y="3135630"/>
            <a:ext cx="70408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No hardwired emergency stop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8176" y="3738372"/>
            <a:ext cx="704088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Nothing removes motion energy independently of the software. The stop of last resort is the supply. The machine is run attended.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91514" y="2872426"/>
            <a:ext cx="7833998" cy="1716662"/>
            <a:chOff x="0" y="0"/>
            <a:chExt cx="10445331" cy="22888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5242" cy="2288794"/>
            </a:xfrm>
            <a:custGeom>
              <a:avLst/>
              <a:gdLst/>
              <a:ahLst/>
              <a:cxnLst/>
              <a:rect r="r" b="b" t="t" l="l"/>
              <a:pathLst>
                <a:path h="2288794" w="10445242">
                  <a:moveTo>
                    <a:pt x="0" y="319913"/>
                  </a:moveTo>
                  <a:cubicBezTo>
                    <a:pt x="0" y="143256"/>
                    <a:pt x="143256" y="0"/>
                    <a:pt x="319913" y="0"/>
                  </a:cubicBezTo>
                  <a:lnTo>
                    <a:pt x="10125329" y="0"/>
                  </a:lnTo>
                  <a:cubicBezTo>
                    <a:pt x="10301986" y="0"/>
                    <a:pt x="10445242" y="143256"/>
                    <a:pt x="10445242" y="319913"/>
                  </a:cubicBezTo>
                  <a:lnTo>
                    <a:pt x="10445242" y="1968881"/>
                  </a:lnTo>
                  <a:cubicBezTo>
                    <a:pt x="10445242" y="2145538"/>
                    <a:pt x="10301986" y="2288794"/>
                    <a:pt x="10125329" y="2288794"/>
                  </a:cubicBezTo>
                  <a:lnTo>
                    <a:pt x="319913" y="2288794"/>
                  </a:lnTo>
                  <a:cubicBezTo>
                    <a:pt x="143256" y="2288921"/>
                    <a:pt x="0" y="2145665"/>
                    <a:pt x="0" y="19688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83496" y="3135630"/>
            <a:ext cx="70408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Motion cannot be interrupted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83496" y="3738372"/>
            <a:ext cx="704088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gantry does not read serial while it moves, so software stop is stop-after-current-block by construction.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6194" y="4792666"/>
            <a:ext cx="7833998" cy="1716662"/>
            <a:chOff x="0" y="0"/>
            <a:chExt cx="10445331" cy="22888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5242" cy="2288794"/>
            </a:xfrm>
            <a:custGeom>
              <a:avLst/>
              <a:gdLst/>
              <a:ahLst/>
              <a:cxnLst/>
              <a:rect r="r" b="b" t="t" l="l"/>
              <a:pathLst>
                <a:path h="2288794" w="10445242">
                  <a:moveTo>
                    <a:pt x="0" y="319913"/>
                  </a:moveTo>
                  <a:cubicBezTo>
                    <a:pt x="0" y="143256"/>
                    <a:pt x="143256" y="0"/>
                    <a:pt x="319913" y="0"/>
                  </a:cubicBezTo>
                  <a:lnTo>
                    <a:pt x="10125329" y="0"/>
                  </a:lnTo>
                  <a:cubicBezTo>
                    <a:pt x="10301986" y="0"/>
                    <a:pt x="10445242" y="143256"/>
                    <a:pt x="10445242" y="319913"/>
                  </a:cubicBezTo>
                  <a:lnTo>
                    <a:pt x="10445242" y="1968881"/>
                  </a:lnTo>
                  <a:cubicBezTo>
                    <a:pt x="10445242" y="2145538"/>
                    <a:pt x="10301986" y="2288794"/>
                    <a:pt x="10125329" y="2288794"/>
                  </a:cubicBezTo>
                  <a:lnTo>
                    <a:pt x="319913" y="2288794"/>
                  </a:lnTo>
                  <a:cubicBezTo>
                    <a:pt x="143256" y="2288921"/>
                    <a:pt x="0" y="2145665"/>
                    <a:pt x="0" y="19688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408176" y="5055870"/>
            <a:ext cx="70408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No watchdog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8176" y="5658612"/>
            <a:ext cx="704088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If the Pi crashes or the cable is pulled, the MEGA finishes the command it already holds.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91514" y="4792666"/>
            <a:ext cx="7833998" cy="1716662"/>
            <a:chOff x="0" y="0"/>
            <a:chExt cx="10445331" cy="22888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5242" cy="2288794"/>
            </a:xfrm>
            <a:custGeom>
              <a:avLst/>
              <a:gdLst/>
              <a:ahLst/>
              <a:cxnLst/>
              <a:rect r="r" b="b" t="t" l="l"/>
              <a:pathLst>
                <a:path h="2288794" w="10445242">
                  <a:moveTo>
                    <a:pt x="0" y="319913"/>
                  </a:moveTo>
                  <a:cubicBezTo>
                    <a:pt x="0" y="143256"/>
                    <a:pt x="143256" y="0"/>
                    <a:pt x="319913" y="0"/>
                  </a:cubicBezTo>
                  <a:lnTo>
                    <a:pt x="10125329" y="0"/>
                  </a:lnTo>
                  <a:cubicBezTo>
                    <a:pt x="10301986" y="0"/>
                    <a:pt x="10445242" y="143256"/>
                    <a:pt x="10445242" y="319913"/>
                  </a:cubicBezTo>
                  <a:lnTo>
                    <a:pt x="10445242" y="1968881"/>
                  </a:lnTo>
                  <a:cubicBezTo>
                    <a:pt x="10445242" y="2145538"/>
                    <a:pt x="10301986" y="2288794"/>
                    <a:pt x="10125329" y="2288794"/>
                  </a:cubicBezTo>
                  <a:lnTo>
                    <a:pt x="319913" y="2288794"/>
                  </a:lnTo>
                  <a:cubicBezTo>
                    <a:pt x="143256" y="2288921"/>
                    <a:pt x="0" y="2145665"/>
                    <a:pt x="0" y="19688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83496" y="5055870"/>
            <a:ext cx="70408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Open-loop steppers, no stall detection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83496" y="5658612"/>
            <a:ext cx="704088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No encoders, no current sensing. A stall produces step pulses that go nowhere.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16194" y="6712906"/>
            <a:ext cx="7833998" cy="1716662"/>
            <a:chOff x="0" y="0"/>
            <a:chExt cx="10445331" cy="22888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45242" cy="2288794"/>
            </a:xfrm>
            <a:custGeom>
              <a:avLst/>
              <a:gdLst/>
              <a:ahLst/>
              <a:cxnLst/>
              <a:rect r="r" b="b" t="t" l="l"/>
              <a:pathLst>
                <a:path h="2288794" w="10445242">
                  <a:moveTo>
                    <a:pt x="0" y="319913"/>
                  </a:moveTo>
                  <a:cubicBezTo>
                    <a:pt x="0" y="143256"/>
                    <a:pt x="143256" y="0"/>
                    <a:pt x="319913" y="0"/>
                  </a:cubicBezTo>
                  <a:lnTo>
                    <a:pt x="10125329" y="0"/>
                  </a:lnTo>
                  <a:cubicBezTo>
                    <a:pt x="10301986" y="0"/>
                    <a:pt x="10445242" y="143256"/>
                    <a:pt x="10445242" y="319913"/>
                  </a:cubicBezTo>
                  <a:lnTo>
                    <a:pt x="10445242" y="1968881"/>
                  </a:lnTo>
                  <a:cubicBezTo>
                    <a:pt x="10445242" y="2145538"/>
                    <a:pt x="10301986" y="2288794"/>
                    <a:pt x="10125329" y="2288794"/>
                  </a:cubicBezTo>
                  <a:lnTo>
                    <a:pt x="319913" y="2288794"/>
                  </a:lnTo>
                  <a:cubicBezTo>
                    <a:pt x="143256" y="2288921"/>
                    <a:pt x="0" y="2145665"/>
                    <a:pt x="0" y="19688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08176" y="6976110"/>
            <a:ext cx="70408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lens is tuned, not calibrated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8176" y="7578852"/>
            <a:ext cx="704088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Adjusted by eye against straight edges — visually straight, not measurement-grade. The file records source: estimated.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91514" y="6712906"/>
            <a:ext cx="7833998" cy="1716662"/>
            <a:chOff x="0" y="0"/>
            <a:chExt cx="10445331" cy="22888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5242" cy="2288794"/>
            </a:xfrm>
            <a:custGeom>
              <a:avLst/>
              <a:gdLst/>
              <a:ahLst/>
              <a:cxnLst/>
              <a:rect r="r" b="b" t="t" l="l"/>
              <a:pathLst>
                <a:path h="2288794" w="10445242">
                  <a:moveTo>
                    <a:pt x="0" y="319913"/>
                  </a:moveTo>
                  <a:cubicBezTo>
                    <a:pt x="0" y="143256"/>
                    <a:pt x="143256" y="0"/>
                    <a:pt x="319913" y="0"/>
                  </a:cubicBezTo>
                  <a:lnTo>
                    <a:pt x="10125329" y="0"/>
                  </a:lnTo>
                  <a:cubicBezTo>
                    <a:pt x="10301986" y="0"/>
                    <a:pt x="10445242" y="143256"/>
                    <a:pt x="10445242" y="319913"/>
                  </a:cubicBezTo>
                  <a:lnTo>
                    <a:pt x="10445242" y="1968881"/>
                  </a:lnTo>
                  <a:cubicBezTo>
                    <a:pt x="10445242" y="2145538"/>
                    <a:pt x="10301986" y="2288794"/>
                    <a:pt x="10125329" y="2288794"/>
                  </a:cubicBezTo>
                  <a:lnTo>
                    <a:pt x="319913" y="2288794"/>
                  </a:lnTo>
                  <a:cubicBezTo>
                    <a:pt x="143256" y="2288921"/>
                    <a:pt x="0" y="2145665"/>
                    <a:pt x="0" y="1968881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683496" y="6976110"/>
            <a:ext cx="70408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claw angle is not sensed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83496" y="7578852"/>
            <a:ext cx="704088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The operator is trusted to start neutral. If not, every placement that session is turned 90°.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4128" y="8796528"/>
            <a:ext cx="16239744" cy="1115568"/>
            <a:chOff x="0" y="0"/>
            <a:chExt cx="21652992" cy="14874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652992" cy="1487424"/>
            </a:xfrm>
            <a:custGeom>
              <a:avLst/>
              <a:gdLst/>
              <a:ahLst/>
              <a:cxnLst/>
              <a:rect r="r" b="b" t="t" l="l"/>
              <a:pathLst>
                <a:path h="1487424" w="21652992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lnTo>
                    <a:pt x="21336000" y="0"/>
                  </a:lnTo>
                  <a:cubicBezTo>
                    <a:pt x="21511006" y="0"/>
                    <a:pt x="21652992" y="141859"/>
                    <a:pt x="21652992" y="316992"/>
                  </a:cubicBezTo>
                  <a:lnTo>
                    <a:pt x="21652992" y="1170432"/>
                  </a:lnTo>
                  <a:cubicBezTo>
                    <a:pt x="21652992" y="1345438"/>
                    <a:pt x="21511133" y="1487424"/>
                    <a:pt x="21336000" y="1487424"/>
                  </a:cubicBezTo>
                  <a:lnTo>
                    <a:pt x="316992" y="1487424"/>
                  </a:lnTo>
                  <a:cubicBezTo>
                    <a:pt x="141859" y="1487424"/>
                    <a:pt x="0" y="1345565"/>
                    <a:pt x="0" y="1170432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27048" y="8968740"/>
            <a:ext cx="152704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</a:pPr>
            <a:r>
              <a:rPr lang="en-US" sz="18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And the layer that would let the camera notice a block that never arrived — placement supervision — is fully designed and not built.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ITEM IS NOT OPTIONAL; THE REST ARE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4128" y="2880360"/>
            <a:ext cx="16239744" cy="2121408"/>
            <a:chOff x="0" y="0"/>
            <a:chExt cx="21652992" cy="28285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52992" cy="2828544"/>
            </a:xfrm>
            <a:custGeom>
              <a:avLst/>
              <a:gdLst/>
              <a:ahLst/>
              <a:cxnLst/>
              <a:rect r="r" b="b" t="t" l="l"/>
              <a:pathLst>
                <a:path h="2828544" w="21652992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lnTo>
                    <a:pt x="21262848" y="0"/>
                  </a:lnTo>
                  <a:cubicBezTo>
                    <a:pt x="21478367" y="0"/>
                    <a:pt x="21652992" y="174625"/>
                    <a:pt x="21652992" y="390144"/>
                  </a:cubicBezTo>
                  <a:lnTo>
                    <a:pt x="21652992" y="2438400"/>
                  </a:lnTo>
                  <a:cubicBezTo>
                    <a:pt x="21652992" y="2653919"/>
                    <a:pt x="21478367" y="2828544"/>
                    <a:pt x="21262848" y="2828544"/>
                  </a:cubicBezTo>
                  <a:lnTo>
                    <a:pt x="390144" y="2828544"/>
                  </a:lnTo>
                  <a:cubicBezTo>
                    <a:pt x="174625" y="2828544"/>
                    <a:pt x="0" y="2653919"/>
                    <a:pt x="0" y="2438400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91056" y="308800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SAFETY, FIRST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1056" y="3783330"/>
            <a:ext cx="1508760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1300" indent="-120650" lvl="1">
              <a:lnSpc>
                <a:spcPts val="27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hardwired emergency stop — a latching mushroom button in series with a contactor on the 12 V motor rail</a:t>
            </a:r>
          </a:p>
          <a:p>
            <a:pPr algn="l" marL="241300" indent="-120650" lvl="1">
              <a:lnSpc>
                <a:spcPts val="27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stop that is observable during motion, and a communications watchdog that brings the rig to a defined state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16194" y="5432746"/>
            <a:ext cx="5246246" cy="3627758"/>
            <a:chOff x="0" y="0"/>
            <a:chExt cx="6994995" cy="4837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5033" cy="4837049"/>
            </a:xfrm>
            <a:custGeom>
              <a:avLst/>
              <a:gdLst/>
              <a:ahLst/>
              <a:cxnLst/>
              <a:rect r="r" b="b" t="t" l="l"/>
              <a:pathLst>
                <a:path h="4837049" w="6995033">
                  <a:moveTo>
                    <a:pt x="0" y="318389"/>
                  </a:moveTo>
                  <a:cubicBezTo>
                    <a:pt x="0" y="142494"/>
                    <a:pt x="142494" y="0"/>
                    <a:pt x="318389" y="0"/>
                  </a:cubicBezTo>
                  <a:lnTo>
                    <a:pt x="6676644" y="0"/>
                  </a:lnTo>
                  <a:cubicBezTo>
                    <a:pt x="6852538" y="0"/>
                    <a:pt x="6995033" y="142494"/>
                    <a:pt x="6995033" y="318389"/>
                  </a:cubicBezTo>
                  <a:lnTo>
                    <a:pt x="6995033" y="4518660"/>
                  </a:lnTo>
                  <a:cubicBezTo>
                    <a:pt x="6995033" y="4694555"/>
                    <a:pt x="6852538" y="4837049"/>
                    <a:pt x="6676644" y="4837049"/>
                  </a:cubicBezTo>
                  <a:lnTo>
                    <a:pt x="318389" y="4837049"/>
                  </a:lnTo>
                  <a:cubicBezTo>
                    <a:pt x="142494" y="4837049"/>
                    <a:pt x="0" y="4694428"/>
                    <a:pt x="0" y="451866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89888" y="569595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Close the loop on placement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9888" y="6380988"/>
            <a:ext cx="4526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server-side ledger of what went where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Compare at the park state — a known, repeatable position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pick-from-cell verb, so the machine can act on a wrong placement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0882" y="5432746"/>
            <a:ext cx="5246246" cy="3627758"/>
            <a:chOff x="0" y="0"/>
            <a:chExt cx="6994995" cy="48370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5033" cy="4837049"/>
            </a:xfrm>
            <a:custGeom>
              <a:avLst/>
              <a:gdLst/>
              <a:ahLst/>
              <a:cxnLst/>
              <a:rect r="r" b="b" t="t" l="l"/>
              <a:pathLst>
                <a:path h="4837049" w="6995033">
                  <a:moveTo>
                    <a:pt x="0" y="318389"/>
                  </a:moveTo>
                  <a:cubicBezTo>
                    <a:pt x="0" y="142494"/>
                    <a:pt x="142494" y="0"/>
                    <a:pt x="318389" y="0"/>
                  </a:cubicBezTo>
                  <a:lnTo>
                    <a:pt x="6676644" y="0"/>
                  </a:lnTo>
                  <a:cubicBezTo>
                    <a:pt x="6852538" y="0"/>
                    <a:pt x="6995033" y="142494"/>
                    <a:pt x="6995033" y="318389"/>
                  </a:cubicBezTo>
                  <a:lnTo>
                    <a:pt x="6995033" y="4518660"/>
                  </a:lnTo>
                  <a:cubicBezTo>
                    <a:pt x="6995033" y="4694555"/>
                    <a:pt x="6852538" y="4837049"/>
                    <a:pt x="6676644" y="4837049"/>
                  </a:cubicBezTo>
                  <a:lnTo>
                    <a:pt x="318389" y="4837049"/>
                  </a:lnTo>
                  <a:cubicBezTo>
                    <a:pt x="142494" y="4837049"/>
                    <a:pt x="0" y="4694428"/>
                    <a:pt x="0" y="451866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94576" y="569595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 properly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94576" y="6380988"/>
            <a:ext cx="4526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checkerboard or ChArUco lens calibration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per-cell table in the saved map, removing the 0.27 cm flattening error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Fix the camera, not the matrix — the colour correction is at its limit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25570" y="5432746"/>
            <a:ext cx="5246246" cy="3627758"/>
            <a:chOff x="0" y="0"/>
            <a:chExt cx="6994995" cy="48370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5033" cy="4837049"/>
            </a:xfrm>
            <a:custGeom>
              <a:avLst/>
              <a:gdLst/>
              <a:ahLst/>
              <a:cxnLst/>
              <a:rect r="r" b="b" t="t" l="l"/>
              <a:pathLst>
                <a:path h="4837049" w="6995033">
                  <a:moveTo>
                    <a:pt x="0" y="318389"/>
                  </a:moveTo>
                  <a:cubicBezTo>
                    <a:pt x="0" y="142494"/>
                    <a:pt x="142494" y="0"/>
                    <a:pt x="318389" y="0"/>
                  </a:cubicBezTo>
                  <a:lnTo>
                    <a:pt x="6676644" y="0"/>
                  </a:lnTo>
                  <a:cubicBezTo>
                    <a:pt x="6852538" y="0"/>
                    <a:pt x="6995033" y="142494"/>
                    <a:pt x="6995033" y="318389"/>
                  </a:cubicBezTo>
                  <a:lnTo>
                    <a:pt x="6995033" y="4518660"/>
                  </a:lnTo>
                  <a:cubicBezTo>
                    <a:pt x="6995033" y="4694555"/>
                    <a:pt x="6852538" y="4837049"/>
                    <a:pt x="6676644" y="4837049"/>
                  </a:cubicBezTo>
                  <a:lnTo>
                    <a:pt x="318389" y="4837049"/>
                  </a:lnTo>
                  <a:cubicBezTo>
                    <a:pt x="142494" y="4837049"/>
                    <a:pt x="0" y="4694428"/>
                    <a:pt x="0" y="451866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399264" y="569595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Protocol and capability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99264" y="6380988"/>
            <a:ext cx="4526280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Controller-supplied command ids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Encoders or stall detection — also worth about a third of the cycle time</a:t>
            </a:r>
          </a:p>
          <a:p>
            <a:pPr algn="l" marL="211137" indent="-105569" lvl="1">
              <a:lnSpc>
                <a:spcPts val="2361"/>
              </a:lnSpc>
              <a:buFont typeface="Arial"/>
              <a:buChar char="•"/>
            </a:pPr>
            <a:r>
              <a:rPr lang="en-US" sz="174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 faster serial link, and a larger workspace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128" y="999744"/>
            <a:ext cx="1623974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530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877187"/>
            <a:ext cx="16239744" cy="71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800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CONTRIBUTION IS NOT THE GANTRY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2859405"/>
            <a:ext cx="1623974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Cartesian gantries are a solved problem. What this project demonstrates is the layer student-scale automation usually leaves out: every physical transition confirmed by something other than a clock.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6194" y="4426906"/>
            <a:ext cx="7833998" cy="1387478"/>
            <a:chOff x="0" y="0"/>
            <a:chExt cx="10445331" cy="18499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5369" cy="1850009"/>
            </a:xfrm>
            <a:custGeom>
              <a:avLst/>
              <a:gdLst/>
              <a:ahLst/>
              <a:cxnLst/>
              <a:rect r="r" b="b" t="t" l="l"/>
              <a:pathLst>
                <a:path h="1850009" w="10445369">
                  <a:moveTo>
                    <a:pt x="0" y="320675"/>
                  </a:moveTo>
                  <a:cubicBezTo>
                    <a:pt x="0" y="143510"/>
                    <a:pt x="143510" y="0"/>
                    <a:pt x="320675" y="0"/>
                  </a:cubicBezTo>
                  <a:lnTo>
                    <a:pt x="10124694" y="0"/>
                  </a:lnTo>
                  <a:cubicBezTo>
                    <a:pt x="10301732" y="0"/>
                    <a:pt x="10445369" y="143510"/>
                    <a:pt x="10445369" y="320675"/>
                  </a:cubicBezTo>
                  <a:lnTo>
                    <a:pt x="10445369" y="1529334"/>
                  </a:lnTo>
                  <a:cubicBezTo>
                    <a:pt x="10445369" y="1706372"/>
                    <a:pt x="10301859" y="1850009"/>
                    <a:pt x="10124694" y="1850009"/>
                  </a:cubicBezTo>
                  <a:lnTo>
                    <a:pt x="320675" y="1850009"/>
                  </a:lnTo>
                  <a:cubicBezTo>
                    <a:pt x="143510" y="1850009"/>
                    <a:pt x="0" y="1706372"/>
                    <a:pt x="0" y="152933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08176" y="4644009"/>
            <a:ext cx="70408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feeder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176" y="5100447"/>
            <a:ext cx="70408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reports success because a sensor saw a block — and saw it again after the aligner moved.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91514" y="4426906"/>
            <a:ext cx="7833998" cy="1387478"/>
            <a:chOff x="0" y="0"/>
            <a:chExt cx="10445331" cy="18499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45369" cy="1850009"/>
            </a:xfrm>
            <a:custGeom>
              <a:avLst/>
              <a:gdLst/>
              <a:ahLst/>
              <a:cxnLst/>
              <a:rect r="r" b="b" t="t" l="l"/>
              <a:pathLst>
                <a:path h="1850009" w="10445369">
                  <a:moveTo>
                    <a:pt x="0" y="320675"/>
                  </a:moveTo>
                  <a:cubicBezTo>
                    <a:pt x="0" y="143510"/>
                    <a:pt x="143510" y="0"/>
                    <a:pt x="320675" y="0"/>
                  </a:cubicBezTo>
                  <a:lnTo>
                    <a:pt x="10124694" y="0"/>
                  </a:lnTo>
                  <a:cubicBezTo>
                    <a:pt x="10301732" y="0"/>
                    <a:pt x="10445369" y="143510"/>
                    <a:pt x="10445369" y="320675"/>
                  </a:cubicBezTo>
                  <a:lnTo>
                    <a:pt x="10445369" y="1529334"/>
                  </a:lnTo>
                  <a:cubicBezTo>
                    <a:pt x="10445369" y="1706372"/>
                    <a:pt x="10301859" y="1850009"/>
                    <a:pt x="10124694" y="1850009"/>
                  </a:cubicBezTo>
                  <a:lnTo>
                    <a:pt x="320675" y="1850009"/>
                  </a:lnTo>
                  <a:cubicBezTo>
                    <a:pt x="143510" y="1850009"/>
                    <a:pt x="0" y="1706372"/>
                    <a:pt x="0" y="152933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683496" y="4644009"/>
            <a:ext cx="70408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gantry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83496" y="5100447"/>
            <a:ext cx="70408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narrates each of its fourteen phases before running it.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6194" y="5999674"/>
            <a:ext cx="7833998" cy="1387478"/>
            <a:chOff x="0" y="0"/>
            <a:chExt cx="10445331" cy="18499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5369" cy="1850009"/>
            </a:xfrm>
            <a:custGeom>
              <a:avLst/>
              <a:gdLst/>
              <a:ahLst/>
              <a:cxnLst/>
              <a:rect r="r" b="b" t="t" l="l"/>
              <a:pathLst>
                <a:path h="1850009" w="10445369">
                  <a:moveTo>
                    <a:pt x="0" y="320675"/>
                  </a:moveTo>
                  <a:cubicBezTo>
                    <a:pt x="0" y="143510"/>
                    <a:pt x="143510" y="0"/>
                    <a:pt x="320675" y="0"/>
                  </a:cubicBezTo>
                  <a:lnTo>
                    <a:pt x="10124694" y="0"/>
                  </a:lnTo>
                  <a:cubicBezTo>
                    <a:pt x="10301732" y="0"/>
                    <a:pt x="10445369" y="143510"/>
                    <a:pt x="10445369" y="320675"/>
                  </a:cubicBezTo>
                  <a:lnTo>
                    <a:pt x="10445369" y="1529334"/>
                  </a:lnTo>
                  <a:cubicBezTo>
                    <a:pt x="10445369" y="1706372"/>
                    <a:pt x="10301859" y="1850009"/>
                    <a:pt x="10124694" y="1850009"/>
                  </a:cubicBezTo>
                  <a:lnTo>
                    <a:pt x="320675" y="1850009"/>
                  </a:lnTo>
                  <a:cubicBezTo>
                    <a:pt x="143510" y="1850009"/>
                    <a:pt x="0" y="1706372"/>
                    <a:pt x="0" y="152933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408176" y="6216777"/>
            <a:ext cx="70408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The twin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8176" y="6673215"/>
            <a:ext cx="70408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draws what the firmware said, and stops short of the cell until the release event arrives.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91514" y="5999674"/>
            <a:ext cx="7833998" cy="1387478"/>
            <a:chOff x="0" y="0"/>
            <a:chExt cx="10445331" cy="18499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45369" cy="1850009"/>
            </a:xfrm>
            <a:custGeom>
              <a:avLst/>
              <a:gdLst/>
              <a:ahLst/>
              <a:cxnLst/>
              <a:rect r="r" b="b" t="t" l="l"/>
              <a:pathLst>
                <a:path h="1850009" w="10445369">
                  <a:moveTo>
                    <a:pt x="0" y="320675"/>
                  </a:moveTo>
                  <a:cubicBezTo>
                    <a:pt x="0" y="143510"/>
                    <a:pt x="143510" y="0"/>
                    <a:pt x="320675" y="0"/>
                  </a:cubicBezTo>
                  <a:lnTo>
                    <a:pt x="10124694" y="0"/>
                  </a:lnTo>
                  <a:cubicBezTo>
                    <a:pt x="10301732" y="0"/>
                    <a:pt x="10445369" y="143510"/>
                    <a:pt x="10445369" y="320675"/>
                  </a:cubicBezTo>
                  <a:lnTo>
                    <a:pt x="10445369" y="1529334"/>
                  </a:lnTo>
                  <a:cubicBezTo>
                    <a:pt x="10445369" y="1706372"/>
                    <a:pt x="10301859" y="1850009"/>
                    <a:pt x="10124694" y="1850009"/>
                  </a:cubicBezTo>
                  <a:lnTo>
                    <a:pt x="320675" y="1850009"/>
                  </a:lnTo>
                  <a:cubicBezTo>
                    <a:pt x="143510" y="1850009"/>
                    <a:pt x="0" y="1706372"/>
                    <a:pt x="0" y="1529334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CDFE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683496" y="6216777"/>
            <a:ext cx="70408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E40AF"/>
                </a:solidFill>
                <a:latin typeface="Poppins Bold"/>
                <a:ea typeface="Poppins Bold"/>
                <a:cs typeface="Poppins Bold"/>
                <a:sym typeface="Poppins Bold"/>
              </a:rPr>
              <a:t>And when it cannot prove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83496" y="6673215"/>
            <a:ext cx="70408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what happened, it locks and asks for a person rather than retrying.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4128" y="7973568"/>
            <a:ext cx="16239744" cy="1572768"/>
            <a:chOff x="0" y="0"/>
            <a:chExt cx="21652992" cy="2097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52993" cy="2097024"/>
            </a:xfrm>
            <a:custGeom>
              <a:avLst/>
              <a:gdLst/>
              <a:ahLst/>
              <a:cxnLst/>
              <a:rect r="r" b="b" t="t" l="l"/>
              <a:pathLst>
                <a:path h="2097024" w="21652993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287232" y="0"/>
                  </a:lnTo>
                  <a:cubicBezTo>
                    <a:pt x="21489290" y="0"/>
                    <a:pt x="21652993" y="163703"/>
                    <a:pt x="21652993" y="365760"/>
                  </a:cubicBezTo>
                  <a:lnTo>
                    <a:pt x="21652993" y="1731264"/>
                  </a:lnTo>
                  <a:cubicBezTo>
                    <a:pt x="21652993" y="1933321"/>
                    <a:pt x="21489290" y="2097024"/>
                    <a:pt x="21287232" y="2097024"/>
                  </a:cubicBezTo>
                  <a:lnTo>
                    <a:pt x="365760" y="2097024"/>
                  </a:lnTo>
                  <a:cubicBezTo>
                    <a:pt x="163703" y="2097024"/>
                    <a:pt x="0" y="1933321"/>
                    <a:pt x="0" y="1731264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44168" y="8220837"/>
            <a:ext cx="301752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16 / 16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4168" y="8832342"/>
            <a:ext cx="30175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5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hardware builds placed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71416" y="8220837"/>
            <a:ext cx="301752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26.1 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71416" y="8832342"/>
            <a:ext cx="30175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5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mean cycle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98664" y="8220837"/>
            <a:ext cx="301752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98664" y="8832342"/>
            <a:ext cx="30175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5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levels on one cell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25912" y="8220837"/>
            <a:ext cx="301752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29 / 29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25912" y="8832342"/>
            <a:ext cx="30175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5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blocks detected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53160" y="8220837"/>
            <a:ext cx="301752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3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560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53160" y="8832342"/>
            <a:ext cx="30175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599">
                <a:solidFill>
                  <a:srgbClr val="C9D4F5"/>
                </a:solidFill>
                <a:latin typeface="Poppins"/>
                <a:ea typeface="Poppins"/>
                <a:cs typeface="Poppins"/>
                <a:sym typeface="Poppins"/>
              </a:rPr>
              <a:t>automated tests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20240" y="4059936"/>
            <a:ext cx="3977640" cy="2167128"/>
            <a:chOff x="0" y="0"/>
            <a:chExt cx="5303520" cy="2889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03520" cy="2889504"/>
            </a:xfrm>
            <a:custGeom>
              <a:avLst/>
              <a:gdLst/>
              <a:ahLst/>
              <a:cxnLst/>
              <a:rect r="r" b="b" t="t" l="l"/>
              <a:pathLst>
                <a:path h="2889504" w="5303520">
                  <a:moveTo>
                    <a:pt x="0" y="1438656"/>
                  </a:moveTo>
                  <a:cubicBezTo>
                    <a:pt x="0" y="644144"/>
                    <a:pt x="644144" y="0"/>
                    <a:pt x="1438656" y="0"/>
                  </a:cubicBezTo>
                  <a:lnTo>
                    <a:pt x="3864864" y="0"/>
                  </a:lnTo>
                  <a:cubicBezTo>
                    <a:pt x="4659376" y="0"/>
                    <a:pt x="5303520" y="644144"/>
                    <a:pt x="5303520" y="1438656"/>
                  </a:cubicBezTo>
                  <a:lnTo>
                    <a:pt x="5303520" y="1450848"/>
                  </a:lnTo>
                  <a:cubicBezTo>
                    <a:pt x="5303520" y="2245360"/>
                    <a:pt x="4659376" y="2889504"/>
                    <a:pt x="3864864" y="2889504"/>
                  </a:cubicBezTo>
                  <a:lnTo>
                    <a:pt x="1438656" y="2889504"/>
                  </a:lnTo>
                  <a:cubicBezTo>
                    <a:pt x="644144" y="2889504"/>
                    <a:pt x="0" y="2245360"/>
                    <a:pt x="0" y="145084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230600" y="4059936"/>
            <a:ext cx="3977640" cy="2167128"/>
            <a:chOff x="0" y="0"/>
            <a:chExt cx="5303520" cy="2889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03520" cy="2889504"/>
            </a:xfrm>
            <a:custGeom>
              <a:avLst/>
              <a:gdLst/>
              <a:ahLst/>
              <a:cxnLst/>
              <a:rect r="r" b="b" t="t" l="l"/>
              <a:pathLst>
                <a:path h="2889504" w="5303520">
                  <a:moveTo>
                    <a:pt x="0" y="1438656"/>
                  </a:moveTo>
                  <a:cubicBezTo>
                    <a:pt x="0" y="644144"/>
                    <a:pt x="644144" y="0"/>
                    <a:pt x="1438656" y="0"/>
                  </a:cubicBezTo>
                  <a:lnTo>
                    <a:pt x="3864864" y="0"/>
                  </a:lnTo>
                  <a:cubicBezTo>
                    <a:pt x="4659376" y="0"/>
                    <a:pt x="5303520" y="644144"/>
                    <a:pt x="5303520" y="1438656"/>
                  </a:cubicBezTo>
                  <a:lnTo>
                    <a:pt x="5303520" y="1450848"/>
                  </a:lnTo>
                  <a:cubicBezTo>
                    <a:pt x="5303520" y="2245360"/>
                    <a:pt x="4659376" y="2889504"/>
                    <a:pt x="3864864" y="2889504"/>
                  </a:cubicBezTo>
                  <a:lnTo>
                    <a:pt x="1438656" y="2889504"/>
                  </a:lnTo>
                  <a:cubicBezTo>
                    <a:pt x="644144" y="2889504"/>
                    <a:pt x="0" y="2245360"/>
                    <a:pt x="0" y="145084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584680" y="7178040"/>
            <a:ext cx="2331720" cy="2267712"/>
            <a:chOff x="0" y="0"/>
            <a:chExt cx="3108960" cy="3023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08960" cy="3023616"/>
            </a:xfrm>
            <a:custGeom>
              <a:avLst/>
              <a:gdLst/>
              <a:ahLst/>
              <a:cxnLst/>
              <a:rect r="r" b="b" t="t" l="l"/>
              <a:pathLst>
                <a:path h="302361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023616"/>
                  </a:lnTo>
                  <a:lnTo>
                    <a:pt x="0" y="3023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5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743200" y="3369945"/>
            <a:ext cx="1280160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30"/>
              </a:lnSpc>
            </a:pPr>
            <a:r>
              <a:rPr lang="en-US" sz="8600" b="true">
                <a:solidFill>
                  <a:srgbClr val="1E40A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3200" y="4966335"/>
            <a:ext cx="1280160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3036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QUESTIONS</a:t>
            </a:r>
          </a:p>
        </p:txBody>
      </p:sp>
      <p:sp>
        <p:nvSpPr>
          <p:cNvPr name="AutoShape 12" id="12"/>
          <p:cNvSpPr/>
          <p:nvPr/>
        </p:nvSpPr>
        <p:spPr>
          <a:xfrm rot="25380">
            <a:off x="7854277" y="6162675"/>
            <a:ext cx="2579437" cy="0"/>
          </a:xfrm>
          <a:prstGeom prst="line">
            <a:avLst/>
          </a:prstGeom>
          <a:ln cap="rnd" w="19050">
            <a:solidFill>
              <a:srgbClr val="C9CF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743200" y="6545580"/>
            <a:ext cx="128016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Ahmed Gharib   ·   Mohie Halawa   ·   Khalil Qanabita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43200" y="7258812"/>
            <a:ext cx="128016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Supervised by Dr. Samer Arandi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43200" y="7898892"/>
            <a:ext cx="128016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5A6170"/>
                </a:solidFill>
                <a:latin typeface="Poppins"/>
                <a:ea typeface="Poppins"/>
                <a:cs typeface="Poppins"/>
                <a:sym typeface="Poppins"/>
              </a:rPr>
              <a:t>Department of Computer Engineering  ·  An-Najah National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DAHUWNOwsds</dc:identifier>
  <dcterms:modified xsi:type="dcterms:W3CDTF">2011-08-01T06:04:30Z</dcterms:modified>
  <cp:revision>1</cp:revision>
  <dc:title>CSE_MH_QOL_Final_Presentation.pptx</dc:title>
</cp:coreProperties>
</file>